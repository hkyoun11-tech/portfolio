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데이터로 알아보는 서울 지하철을 주제로 선정해보았습니다.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프로젝트에 대한 목적, 자료 출처, 데이터 수집과정, 데이터 활용 순서로 발표하도록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첫번째 목적으로는 매일 접하는 서울 지하철 안에서 퇴근길 지옥철에 타는 사람들은 어디로 향할까 하는 궁금증과 함께, 기존의 지하철 어플리케이션에서 제공하는 단순한 지하철 승하차 시간 정보 외에 데이터를 활용하여 막연한 정보가 아니라 더욱 디테일한 지하철 데이터를 활용하면 좋겠다는 생각을 기반으로 프로젝트를 진행하였습니다.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개인의 올바른 선택을 돕는 데에 활용되어 정기적인 이용자가 더 편리하게 지하철을 이용할 수 있도록 돕는 데 기여하고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서울시 역사의 위도 경도에 대한 정보와 지하철 호선별 승하차 인원에 대한 공공데이터를 참고하였습니다.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파이썬으로 데이터를 불러오고 그래프에 한글이 깨지지 않도록 폰트를 설정했습니다.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우선 승하차 데이터를 나눠서 사람들이 많이 모이는 시간과 역을 찾고 분석해보았습니다.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스타일링을 그라데이션으로 표현하여 데이터 값의 크기를 확인해보았습니다.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수집한 데이터들과 지하철역의 위도 경도를 파악하여 두 데이터를 머지해보았습니다.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 좌표에 18시~19시 하차 인원을 더해 히트맵으로 표현했습니다.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DEB"/>
        </a:solidFill>
      </p:bgPr>
    </p:bg>
    <p:spTree>
      <p:nvGrpSpPr>
        <p:cNvPr id="1" name=""/>
        <p:cNvGrpSpPr/>
        <p:nvPr/>
      </p:nvGrpSpPr>
      <p:grpSpPr>
        <a:xfrm>
          <a:off x="0" y="0"/>
          <a:ext cx="0" cy="0"/>
          <a:chOff x="0" y="0"/>
          <a:chExt cx="0" cy="0"/>
        </a:xfrm>
      </p:grpSpPr>
      <p:sp>
        <p:nvSpPr>
          <p:cNvPr id="2" name="Shape 0"/>
          <p:cNvSpPr/>
          <p:nvPr/>
        </p:nvSpPr>
        <p:spPr>
          <a:xfrm>
            <a:off x="502920" y="960120"/>
            <a:ext cx="8138160" cy="2514600"/>
          </a:xfrm>
          <a:prstGeom prst="roundRect">
            <a:avLst>
              <a:gd name="adj" fmla="val 4364"/>
            </a:avLst>
          </a:prstGeom>
          <a:solidFill>
            <a:srgbClr val="FFFFFF"/>
          </a:solidFill>
          <a:ln w="12700">
            <a:solidFill>
              <a:srgbClr val="C9D2CD"/>
            </a:solidFill>
            <a:prstDash val="solid"/>
          </a:ln>
          <a:effectLst>
            <a:outerShdw sx="100000" sy="100000" kx="0" ky="0" algn="bl" rotWithShape="0" blurRad="101600" dist="38100" dir="5400000">
              <a:srgbClr val="000000">
                <a:alpha val="18000"/>
              </a:srgbClr>
            </a:outerShdw>
          </a:effectLst>
        </p:spPr>
      </p:sp>
      <p:sp>
        <p:nvSpPr>
          <p:cNvPr id="3" name="Shape 1"/>
          <p:cNvSpPr/>
          <p:nvPr/>
        </p:nvSpPr>
        <p:spPr>
          <a:xfrm>
            <a:off x="502920" y="2816352"/>
            <a:ext cx="8138160" cy="658368"/>
          </a:xfrm>
          <a:prstGeom prst="rect">
            <a:avLst/>
          </a:prstGeom>
          <a:solidFill>
            <a:srgbClr val="00A84D"/>
          </a:solidFill>
          <a:ln w="12700">
            <a:solidFill>
              <a:srgbClr val="00A84D"/>
            </a:solidFill>
            <a:prstDash val="solid"/>
          </a:ln>
        </p:spPr>
      </p:sp>
      <p:sp>
        <p:nvSpPr>
          <p:cNvPr id="4" name="Shape 2"/>
          <p:cNvSpPr/>
          <p:nvPr/>
        </p:nvSpPr>
        <p:spPr>
          <a:xfrm>
            <a:off x="914400" y="1417320"/>
            <a:ext cx="868680" cy="868680"/>
          </a:xfrm>
          <a:prstGeom prst="ellipse">
            <a:avLst/>
          </a:prstGeom>
          <a:solidFill>
            <a:srgbClr val="00A84D"/>
          </a:solidFill>
          <a:ln w="12700">
            <a:solidFill>
              <a:srgbClr val="00A84D"/>
            </a:solidFill>
            <a:prstDash val="solid"/>
          </a:ln>
        </p:spPr>
      </p:sp>
      <p:sp>
        <p:nvSpPr>
          <p:cNvPr id="5" name="Text 3"/>
          <p:cNvSpPr txBox="1"/>
          <p:nvPr/>
        </p:nvSpPr>
        <p:spPr>
          <a:xfrm>
            <a:off x="914400" y="1417320"/>
            <a:ext cx="868680" cy="868680"/>
          </a:xfrm>
          <a:prstGeom prst="rect">
            <a:avLst/>
          </a:prstGeom>
          <a:noFill/>
          <a:ln/>
        </p:spPr>
        <p:txBody>
          <a:bodyPr wrap="square" lIns="0" tIns="0" rIns="0" bIns="0" rtlCol="0" anchor="ctr"/>
          <a:lstStyle/>
          <a:p>
            <a:pPr algn="ctr" indent="0" marL="0">
              <a:buNone/>
            </a:pPr>
            <a:r>
              <a:rPr lang="en-US" sz="3600" b="1" dirty="0">
                <a:solidFill>
                  <a:srgbClr val="FFFFFF"/>
                </a:solidFill>
                <a:latin typeface="Malgun Gothic" pitchFamily="34" charset="0"/>
                <a:ea typeface="Malgun Gothic" pitchFamily="34" charset="-122"/>
                <a:cs typeface="Malgun Gothic" pitchFamily="34" charset="-120"/>
              </a:rPr>
              <a:t>2</a:t>
            </a:r>
            <a:endParaRPr lang="en-US" sz="3600" dirty="0"/>
          </a:p>
        </p:txBody>
      </p:sp>
      <p:sp>
        <p:nvSpPr>
          <p:cNvPr id="6" name="Text 4"/>
          <p:cNvSpPr txBox="1"/>
          <p:nvPr/>
        </p:nvSpPr>
        <p:spPr>
          <a:xfrm>
            <a:off x="2011680" y="1307592"/>
            <a:ext cx="6217920" cy="777240"/>
          </a:xfrm>
          <a:prstGeom prst="rect">
            <a:avLst/>
          </a:prstGeom>
          <a:noFill/>
          <a:ln/>
        </p:spPr>
        <p:txBody>
          <a:bodyPr wrap="square" lIns="0" tIns="0" rIns="0" bIns="0" rtlCol="0" anchor="ctr"/>
          <a:lstStyle/>
          <a:p>
            <a:pPr indent="0" marL="0">
              <a:buNone/>
            </a:pPr>
            <a:r>
              <a:rPr lang="en-US" sz="3200" b="1" dirty="0">
                <a:solidFill>
                  <a:srgbClr val="1E2B23"/>
                </a:solidFill>
                <a:latin typeface="Malgun Gothic" pitchFamily="34" charset="0"/>
                <a:ea typeface="Malgun Gothic" pitchFamily="34" charset="-122"/>
                <a:cs typeface="Malgun Gothic" pitchFamily="34" charset="-120"/>
              </a:rPr>
              <a:t>데이터로 알아보는 서울 지하철</a:t>
            </a:r>
            <a:endParaRPr lang="en-US" sz="3200" dirty="0"/>
          </a:p>
        </p:txBody>
      </p:sp>
      <p:sp>
        <p:nvSpPr>
          <p:cNvPr id="7" name="Text 5"/>
          <p:cNvSpPr txBox="1"/>
          <p:nvPr/>
        </p:nvSpPr>
        <p:spPr>
          <a:xfrm>
            <a:off x="2029968" y="2057400"/>
            <a:ext cx="6217920" cy="365760"/>
          </a:xfrm>
          <a:prstGeom prst="rect">
            <a:avLst/>
          </a:prstGeom>
          <a:noFill/>
          <a:ln/>
        </p:spPr>
        <p:txBody>
          <a:bodyPr wrap="square" lIns="0" tIns="0" rIns="0" bIns="0" rtlCol="0" anchor="ctr"/>
          <a:lstStyle/>
          <a:p>
            <a:pPr indent="0" marL="0">
              <a:buNone/>
            </a:pPr>
            <a:r>
              <a:rPr lang="en-US" sz="1400" dirty="0">
                <a:solidFill>
                  <a:srgbClr val="5E6B63"/>
                </a:solidFill>
                <a:latin typeface="Malgun Gothic" pitchFamily="34" charset="0"/>
                <a:ea typeface="Malgun Gothic" pitchFamily="34" charset="-122"/>
                <a:cs typeface="Malgun Gothic" pitchFamily="34" charset="-120"/>
              </a:rPr>
              <a:t>Seoul Metro, Explored with Data</a:t>
            </a:r>
            <a:endParaRPr lang="en-US" sz="1400" dirty="0"/>
          </a:p>
        </p:txBody>
      </p:sp>
      <p:sp>
        <p:nvSpPr>
          <p:cNvPr id="8" name="Shape 6"/>
          <p:cNvSpPr/>
          <p:nvPr/>
        </p:nvSpPr>
        <p:spPr>
          <a:xfrm rot="16200000">
            <a:off x="822960" y="3035808"/>
            <a:ext cx="237744" cy="219456"/>
          </a:xfrm>
          <a:prstGeom prst="triangle">
            <a:avLst/>
          </a:prstGeom>
          <a:solidFill>
            <a:srgbClr val="FFFFFF"/>
          </a:solidFill>
          <a:ln w="12700">
            <a:solidFill>
              <a:srgbClr val="FFFFFF"/>
            </a:solidFill>
            <a:prstDash val="solid"/>
          </a:ln>
        </p:spPr>
      </p:sp>
      <p:sp>
        <p:nvSpPr>
          <p:cNvPr id="9" name="Text 7"/>
          <p:cNvSpPr txBox="1"/>
          <p:nvPr/>
        </p:nvSpPr>
        <p:spPr>
          <a:xfrm>
            <a:off x="1188720" y="2816352"/>
            <a:ext cx="2743200" cy="658368"/>
          </a:xfrm>
          <a:prstGeom prst="rect">
            <a:avLst/>
          </a:prstGeom>
          <a:noFill/>
          <a:ln/>
        </p:spPr>
        <p:txBody>
          <a:bodyPr wrap="square" lIns="0" tIns="0" rIns="0" bIns="0" rtlCol="0" anchor="ctr"/>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지옥철</a:t>
            </a:r>
            <a:endParaRPr lang="en-US" sz="1800" dirty="0"/>
          </a:p>
        </p:txBody>
      </p:sp>
      <p:sp>
        <p:nvSpPr>
          <p:cNvPr id="10" name="Text 8"/>
          <p:cNvSpPr txBox="1"/>
          <p:nvPr/>
        </p:nvSpPr>
        <p:spPr>
          <a:xfrm>
            <a:off x="5212080" y="2816352"/>
            <a:ext cx="2743200" cy="658368"/>
          </a:xfrm>
          <a:prstGeom prst="rect">
            <a:avLst/>
          </a:prstGeom>
          <a:noFill/>
          <a:ln/>
        </p:spPr>
        <p:txBody>
          <a:bodyPr wrap="square" lIns="0" tIns="0" rIns="0" bIns="0" rtlCol="0" anchor="ctr"/>
          <a:lstStyle/>
          <a:p>
            <a:pPr algn="r" indent="0" marL="0">
              <a:buNone/>
            </a:pPr>
            <a:r>
              <a:rPr lang="en-US" sz="1800" b="1" dirty="0">
                <a:solidFill>
                  <a:srgbClr val="FFFFFF"/>
                </a:solidFill>
                <a:latin typeface="Malgun Gothic" pitchFamily="34" charset="0"/>
                <a:ea typeface="Malgun Gothic" pitchFamily="34" charset="-122"/>
                <a:cs typeface="Malgun Gothic" pitchFamily="34" charset="-120"/>
              </a:rPr>
              <a:t>Project 목적</a:t>
            </a:r>
            <a:endParaRPr lang="en-US" sz="1800" dirty="0"/>
          </a:p>
        </p:txBody>
      </p:sp>
      <p:sp>
        <p:nvSpPr>
          <p:cNvPr id="11" name="Shape 9"/>
          <p:cNvSpPr/>
          <p:nvPr/>
        </p:nvSpPr>
        <p:spPr>
          <a:xfrm rot="5400000">
            <a:off x="8083296" y="3035808"/>
            <a:ext cx="237744" cy="219456"/>
          </a:xfrm>
          <a:prstGeom prst="triangle">
            <a:avLst/>
          </a:prstGeom>
          <a:solidFill>
            <a:srgbClr val="FFFFFF"/>
          </a:solidFill>
          <a:ln w="12700">
            <a:solidFill>
              <a:srgbClr val="FFFFFF"/>
            </a:solidFill>
            <a:prstDash val="solid"/>
          </a:ln>
        </p:spPr>
      </p:sp>
      <p:sp>
        <p:nvSpPr>
          <p:cNvPr id="12" name="Text 10"/>
          <p:cNvSpPr txBox="1"/>
          <p:nvPr/>
        </p:nvSpPr>
        <p:spPr>
          <a:xfrm>
            <a:off x="502920" y="3840480"/>
            <a:ext cx="5486400" cy="320040"/>
          </a:xfrm>
          <a:prstGeom prst="rect">
            <a:avLst/>
          </a:prstGeom>
          <a:noFill/>
          <a:ln/>
        </p:spPr>
        <p:txBody>
          <a:bodyPr wrap="square" lIns="0" tIns="0" rIns="0" bIns="0" rtlCol="0" anchor="ctr"/>
          <a:lstStyle/>
          <a:p>
            <a:pPr indent="0" marL="0">
              <a:buNone/>
            </a:pPr>
            <a:r>
              <a:rPr lang="en-US" sz="1300" dirty="0">
                <a:solidFill>
                  <a:srgbClr val="5E6B63"/>
                </a:solidFill>
                <a:latin typeface="Malgun Gothic" pitchFamily="34" charset="0"/>
                <a:ea typeface="Malgun Gothic" pitchFamily="34" charset="-122"/>
                <a:cs typeface="Malgun Gothic" pitchFamily="34" charset="-120"/>
              </a:rPr>
              <a:t>서울 지하철 승하차 데이터 분석</a:t>
            </a:r>
            <a:endParaRPr lang="en-US" sz="1300" dirty="0"/>
          </a:p>
        </p:txBody>
      </p:sp>
      <p:sp>
        <p:nvSpPr>
          <p:cNvPr id="13" name="Text 11"/>
          <p:cNvSpPr txBox="1"/>
          <p:nvPr/>
        </p:nvSpPr>
        <p:spPr>
          <a:xfrm>
            <a:off x="502920" y="4160520"/>
            <a:ext cx="5486400" cy="411480"/>
          </a:xfrm>
          <a:prstGeom prst="rect">
            <a:avLst/>
          </a:prstGeom>
          <a:noFill/>
          <a:ln/>
        </p:spPr>
        <p:txBody>
          <a:bodyPr wrap="square" lIns="0" tIns="0" rIns="0" bIns="0" rtlCol="0" anchor="ctr"/>
          <a:lstStyle/>
          <a:p>
            <a:pPr indent="0" marL="0">
              <a:buNone/>
            </a:pPr>
            <a:r>
              <a:rPr lang="en-US" sz="1800" b="1" dirty="0">
                <a:solidFill>
                  <a:srgbClr val="1E2B23"/>
                </a:solidFill>
                <a:latin typeface="Malgun Gothic" pitchFamily="34" charset="0"/>
                <a:ea typeface="Malgun Gothic" pitchFamily="34" charset="-122"/>
                <a:cs typeface="Malgun Gothic" pitchFamily="34" charset="-120"/>
              </a:rPr>
              <a:t>윤희경</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CONTENTS</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목차</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02 / 13</a:t>
            </a:r>
            <a:endParaRPr lang="en-US" sz="900" dirty="0"/>
          </a:p>
        </p:txBody>
      </p:sp>
      <p:sp>
        <p:nvSpPr>
          <p:cNvPr id="8" name="Shape 5"/>
          <p:cNvSpPr/>
          <p:nvPr/>
        </p:nvSpPr>
        <p:spPr>
          <a:xfrm>
            <a:off x="1097280" y="2606040"/>
            <a:ext cx="6949440" cy="0"/>
          </a:xfrm>
          <a:prstGeom prst="line">
            <a:avLst/>
          </a:prstGeom>
          <a:noFill/>
          <a:ln w="101600">
            <a:solidFill>
              <a:srgbClr val="00A84D"/>
            </a:solidFill>
            <a:prstDash val="solid"/>
          </a:ln>
        </p:spPr>
      </p:sp>
      <p:sp>
        <p:nvSpPr>
          <p:cNvPr id="9" name="Shape 6"/>
          <p:cNvSpPr/>
          <p:nvPr/>
        </p:nvSpPr>
        <p:spPr>
          <a:xfrm>
            <a:off x="822960" y="2331720"/>
            <a:ext cx="548640" cy="548640"/>
          </a:xfrm>
          <a:prstGeom prst="ellipse">
            <a:avLst/>
          </a:prstGeom>
          <a:solidFill>
            <a:srgbClr val="FFFFFF"/>
          </a:solidFill>
          <a:ln w="76200">
            <a:solidFill>
              <a:srgbClr val="00A84D"/>
            </a:solidFill>
            <a:prstDash val="solid"/>
          </a:ln>
        </p:spPr>
      </p:sp>
      <p:sp>
        <p:nvSpPr>
          <p:cNvPr id="10" name="Text 7"/>
          <p:cNvSpPr txBox="1"/>
          <p:nvPr/>
        </p:nvSpPr>
        <p:spPr>
          <a:xfrm>
            <a:off x="822960" y="2331720"/>
            <a:ext cx="548640" cy="548640"/>
          </a:xfrm>
          <a:prstGeom prst="rect">
            <a:avLst/>
          </a:prstGeom>
          <a:noFill/>
          <a:ln/>
        </p:spPr>
        <p:txBody>
          <a:bodyPr wrap="square" lIns="0" tIns="0" rIns="0" bIns="0" rtlCol="0" anchor="ctr"/>
          <a:lstStyle/>
          <a:p>
            <a:pPr algn="ctr" indent="0" marL="0">
              <a:buNone/>
            </a:pPr>
            <a:r>
              <a:rPr lang="en-US" sz="1300" b="1" dirty="0">
                <a:solidFill>
                  <a:srgbClr val="00A84D"/>
                </a:solidFill>
                <a:latin typeface="Malgun Gothic" pitchFamily="34" charset="0"/>
                <a:ea typeface="Malgun Gothic" pitchFamily="34" charset="-122"/>
                <a:cs typeface="Malgun Gothic" pitchFamily="34" charset="-120"/>
              </a:rPr>
              <a:t>01</a:t>
            </a:r>
            <a:endParaRPr lang="en-US" sz="1300" dirty="0"/>
          </a:p>
        </p:txBody>
      </p:sp>
      <p:sp>
        <p:nvSpPr>
          <p:cNvPr id="11" name="Text 8"/>
          <p:cNvSpPr txBox="1"/>
          <p:nvPr/>
        </p:nvSpPr>
        <p:spPr>
          <a:xfrm>
            <a:off x="91440" y="3063240"/>
            <a:ext cx="2011680" cy="365760"/>
          </a:xfrm>
          <a:prstGeom prst="rect">
            <a:avLst/>
          </a:prstGeom>
          <a:noFill/>
          <a:ln/>
        </p:spPr>
        <p:txBody>
          <a:bodyPr wrap="square" lIns="0" tIns="0" rIns="0" bIns="0" rtlCol="0" anchor="ctr"/>
          <a:lstStyle/>
          <a:p>
            <a:pPr algn="ctr" indent="0" marL="0">
              <a:buNone/>
            </a:pPr>
            <a:r>
              <a:rPr lang="en-US" sz="1400" b="1" dirty="0">
                <a:solidFill>
                  <a:srgbClr val="1E2B23"/>
                </a:solidFill>
                <a:latin typeface="Malgun Gothic" pitchFamily="34" charset="0"/>
                <a:ea typeface="Malgun Gothic" pitchFamily="34" charset="-122"/>
                <a:cs typeface="Malgun Gothic" pitchFamily="34" charset="-120"/>
              </a:rPr>
              <a:t>Project 목적</a:t>
            </a:r>
            <a:endParaRPr lang="en-US" sz="1400" dirty="0"/>
          </a:p>
        </p:txBody>
      </p:sp>
      <p:sp>
        <p:nvSpPr>
          <p:cNvPr id="12" name="Shape 9"/>
          <p:cNvSpPr/>
          <p:nvPr/>
        </p:nvSpPr>
        <p:spPr>
          <a:xfrm>
            <a:off x="3139440" y="2331720"/>
            <a:ext cx="548640" cy="548640"/>
          </a:xfrm>
          <a:prstGeom prst="ellipse">
            <a:avLst/>
          </a:prstGeom>
          <a:solidFill>
            <a:srgbClr val="FFFFFF"/>
          </a:solidFill>
          <a:ln w="76200">
            <a:solidFill>
              <a:srgbClr val="00A84D"/>
            </a:solidFill>
            <a:prstDash val="solid"/>
          </a:ln>
        </p:spPr>
      </p:sp>
      <p:sp>
        <p:nvSpPr>
          <p:cNvPr id="13" name="Text 10"/>
          <p:cNvSpPr txBox="1"/>
          <p:nvPr/>
        </p:nvSpPr>
        <p:spPr>
          <a:xfrm>
            <a:off x="3139440" y="2331720"/>
            <a:ext cx="548640" cy="548640"/>
          </a:xfrm>
          <a:prstGeom prst="rect">
            <a:avLst/>
          </a:prstGeom>
          <a:noFill/>
          <a:ln/>
        </p:spPr>
        <p:txBody>
          <a:bodyPr wrap="square" lIns="0" tIns="0" rIns="0" bIns="0" rtlCol="0" anchor="ctr"/>
          <a:lstStyle/>
          <a:p>
            <a:pPr algn="ctr" indent="0" marL="0">
              <a:buNone/>
            </a:pPr>
            <a:r>
              <a:rPr lang="en-US" sz="1300" b="1" dirty="0">
                <a:solidFill>
                  <a:srgbClr val="00A84D"/>
                </a:solidFill>
                <a:latin typeface="Malgun Gothic" pitchFamily="34" charset="0"/>
                <a:ea typeface="Malgun Gothic" pitchFamily="34" charset="-122"/>
                <a:cs typeface="Malgun Gothic" pitchFamily="34" charset="-120"/>
              </a:rPr>
              <a:t>02</a:t>
            </a:r>
            <a:endParaRPr lang="en-US" sz="1300" dirty="0"/>
          </a:p>
        </p:txBody>
      </p:sp>
      <p:sp>
        <p:nvSpPr>
          <p:cNvPr id="14" name="Text 11"/>
          <p:cNvSpPr txBox="1"/>
          <p:nvPr/>
        </p:nvSpPr>
        <p:spPr>
          <a:xfrm>
            <a:off x="2407920" y="3063240"/>
            <a:ext cx="2011680" cy="365760"/>
          </a:xfrm>
          <a:prstGeom prst="rect">
            <a:avLst/>
          </a:prstGeom>
          <a:noFill/>
          <a:ln/>
        </p:spPr>
        <p:txBody>
          <a:bodyPr wrap="square" lIns="0" tIns="0" rIns="0" bIns="0" rtlCol="0" anchor="ctr"/>
          <a:lstStyle/>
          <a:p>
            <a:pPr algn="ctr" indent="0" marL="0">
              <a:buNone/>
            </a:pPr>
            <a:r>
              <a:rPr lang="en-US" sz="1400" b="1" dirty="0">
                <a:solidFill>
                  <a:srgbClr val="1E2B23"/>
                </a:solidFill>
                <a:latin typeface="Malgun Gothic" pitchFamily="34" charset="0"/>
                <a:ea typeface="Malgun Gothic" pitchFamily="34" charset="-122"/>
                <a:cs typeface="Malgun Gothic" pitchFamily="34" charset="-120"/>
              </a:rPr>
              <a:t>참고 자료 및 출처</a:t>
            </a:r>
            <a:endParaRPr lang="en-US" sz="1400" dirty="0"/>
          </a:p>
        </p:txBody>
      </p:sp>
      <p:sp>
        <p:nvSpPr>
          <p:cNvPr id="15" name="Shape 12"/>
          <p:cNvSpPr/>
          <p:nvPr/>
        </p:nvSpPr>
        <p:spPr>
          <a:xfrm>
            <a:off x="5455920" y="2331720"/>
            <a:ext cx="548640" cy="548640"/>
          </a:xfrm>
          <a:prstGeom prst="ellipse">
            <a:avLst/>
          </a:prstGeom>
          <a:solidFill>
            <a:srgbClr val="FFFFFF"/>
          </a:solidFill>
          <a:ln w="76200">
            <a:solidFill>
              <a:srgbClr val="00A84D"/>
            </a:solidFill>
            <a:prstDash val="solid"/>
          </a:ln>
        </p:spPr>
      </p:sp>
      <p:sp>
        <p:nvSpPr>
          <p:cNvPr id="16" name="Text 13"/>
          <p:cNvSpPr txBox="1"/>
          <p:nvPr/>
        </p:nvSpPr>
        <p:spPr>
          <a:xfrm>
            <a:off x="5455920" y="2331720"/>
            <a:ext cx="548640" cy="548640"/>
          </a:xfrm>
          <a:prstGeom prst="rect">
            <a:avLst/>
          </a:prstGeom>
          <a:noFill/>
          <a:ln/>
        </p:spPr>
        <p:txBody>
          <a:bodyPr wrap="square" lIns="0" tIns="0" rIns="0" bIns="0" rtlCol="0" anchor="ctr"/>
          <a:lstStyle/>
          <a:p>
            <a:pPr algn="ctr" indent="0" marL="0">
              <a:buNone/>
            </a:pPr>
            <a:r>
              <a:rPr lang="en-US" sz="1300" b="1" dirty="0">
                <a:solidFill>
                  <a:srgbClr val="00A84D"/>
                </a:solidFill>
                <a:latin typeface="Malgun Gothic" pitchFamily="34" charset="0"/>
                <a:ea typeface="Malgun Gothic" pitchFamily="34" charset="-122"/>
                <a:cs typeface="Malgun Gothic" pitchFamily="34" charset="-120"/>
              </a:rPr>
              <a:t>03</a:t>
            </a:r>
            <a:endParaRPr lang="en-US" sz="1300" dirty="0"/>
          </a:p>
        </p:txBody>
      </p:sp>
      <p:sp>
        <p:nvSpPr>
          <p:cNvPr id="17" name="Text 14"/>
          <p:cNvSpPr txBox="1"/>
          <p:nvPr/>
        </p:nvSpPr>
        <p:spPr>
          <a:xfrm>
            <a:off x="4724400" y="3063240"/>
            <a:ext cx="2011680" cy="365760"/>
          </a:xfrm>
          <a:prstGeom prst="rect">
            <a:avLst/>
          </a:prstGeom>
          <a:noFill/>
          <a:ln/>
        </p:spPr>
        <p:txBody>
          <a:bodyPr wrap="square" lIns="0" tIns="0" rIns="0" bIns="0" rtlCol="0" anchor="ctr"/>
          <a:lstStyle/>
          <a:p>
            <a:pPr algn="ctr" indent="0" marL="0">
              <a:buNone/>
            </a:pPr>
            <a:r>
              <a:rPr lang="en-US" sz="1400" b="1" dirty="0">
                <a:solidFill>
                  <a:srgbClr val="1E2B23"/>
                </a:solidFill>
                <a:latin typeface="Malgun Gothic" pitchFamily="34" charset="0"/>
                <a:ea typeface="Malgun Gothic" pitchFamily="34" charset="-122"/>
                <a:cs typeface="Malgun Gothic" pitchFamily="34" charset="-120"/>
              </a:rPr>
              <a:t>데이터 수집</a:t>
            </a:r>
            <a:endParaRPr lang="en-US" sz="1400" dirty="0"/>
          </a:p>
        </p:txBody>
      </p:sp>
      <p:sp>
        <p:nvSpPr>
          <p:cNvPr id="18" name="Shape 15"/>
          <p:cNvSpPr/>
          <p:nvPr/>
        </p:nvSpPr>
        <p:spPr>
          <a:xfrm>
            <a:off x="7772400" y="2331720"/>
            <a:ext cx="548640" cy="548640"/>
          </a:xfrm>
          <a:prstGeom prst="ellipse">
            <a:avLst/>
          </a:prstGeom>
          <a:solidFill>
            <a:srgbClr val="FFFFFF"/>
          </a:solidFill>
          <a:ln w="76200">
            <a:solidFill>
              <a:srgbClr val="00A84D"/>
            </a:solidFill>
            <a:prstDash val="solid"/>
          </a:ln>
        </p:spPr>
      </p:sp>
      <p:sp>
        <p:nvSpPr>
          <p:cNvPr id="19" name="Text 16"/>
          <p:cNvSpPr txBox="1"/>
          <p:nvPr/>
        </p:nvSpPr>
        <p:spPr>
          <a:xfrm>
            <a:off x="7772400" y="2331720"/>
            <a:ext cx="548640" cy="548640"/>
          </a:xfrm>
          <a:prstGeom prst="rect">
            <a:avLst/>
          </a:prstGeom>
          <a:noFill/>
          <a:ln/>
        </p:spPr>
        <p:txBody>
          <a:bodyPr wrap="square" lIns="0" tIns="0" rIns="0" bIns="0" rtlCol="0" anchor="ctr"/>
          <a:lstStyle/>
          <a:p>
            <a:pPr algn="ctr" indent="0" marL="0">
              <a:buNone/>
            </a:pPr>
            <a:r>
              <a:rPr lang="en-US" sz="1300" b="1" dirty="0">
                <a:solidFill>
                  <a:srgbClr val="00A84D"/>
                </a:solidFill>
                <a:latin typeface="Malgun Gothic" pitchFamily="34" charset="0"/>
                <a:ea typeface="Malgun Gothic" pitchFamily="34" charset="-122"/>
                <a:cs typeface="Malgun Gothic" pitchFamily="34" charset="-120"/>
              </a:rPr>
              <a:t>04</a:t>
            </a:r>
            <a:endParaRPr lang="en-US" sz="1300" dirty="0"/>
          </a:p>
        </p:txBody>
      </p:sp>
      <p:sp>
        <p:nvSpPr>
          <p:cNvPr id="20" name="Text 17"/>
          <p:cNvSpPr txBox="1"/>
          <p:nvPr/>
        </p:nvSpPr>
        <p:spPr>
          <a:xfrm>
            <a:off x="7040880" y="3063240"/>
            <a:ext cx="2011680" cy="365760"/>
          </a:xfrm>
          <a:prstGeom prst="rect">
            <a:avLst/>
          </a:prstGeom>
          <a:noFill/>
          <a:ln/>
        </p:spPr>
        <p:txBody>
          <a:bodyPr wrap="square" lIns="0" tIns="0" rIns="0" bIns="0" rtlCol="0" anchor="ctr"/>
          <a:lstStyle/>
          <a:p>
            <a:pPr algn="ctr" indent="0" marL="0">
              <a:buNone/>
            </a:pPr>
            <a:r>
              <a:rPr lang="en-US" sz="1400" b="1" dirty="0">
                <a:solidFill>
                  <a:srgbClr val="1E2B23"/>
                </a:solidFill>
                <a:latin typeface="Malgun Gothic" pitchFamily="34" charset="0"/>
                <a:ea typeface="Malgun Gothic" pitchFamily="34" charset="-122"/>
                <a:cs typeface="Malgun Gothic" pitchFamily="34" charset="-120"/>
              </a:rPr>
              <a:t>데이터 활용</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01  Project 목적</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지옥철을 피하고 싶어요!</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03 / 13</a:t>
            </a:r>
            <a:endParaRPr lang="en-US" sz="900" dirty="0"/>
          </a:p>
        </p:txBody>
      </p:sp>
      <p:sp>
        <p:nvSpPr>
          <p:cNvPr id="8" name="Text 5"/>
          <p:cNvSpPr txBox="1"/>
          <p:nvPr/>
        </p:nvSpPr>
        <p:spPr>
          <a:xfrm>
            <a:off x="502920" y="1554480"/>
            <a:ext cx="3657600" cy="1005840"/>
          </a:xfrm>
          <a:prstGeom prst="rect">
            <a:avLst/>
          </a:prstGeom>
          <a:noFill/>
          <a:ln/>
        </p:spPr>
        <p:txBody>
          <a:bodyPr wrap="square" lIns="0" tIns="0" rIns="0" bIns="0" rtlCol="0" anchor="ctr"/>
          <a:lstStyle/>
          <a:p>
            <a:pPr indent="0" marL="0">
              <a:lnSpc>
                <a:spcPct val="120000"/>
              </a:lnSpc>
              <a:buNone/>
            </a:pPr>
            <a:r>
              <a:rPr lang="en-US" sz="1800" b="1" dirty="0">
                <a:solidFill>
                  <a:srgbClr val="00703A"/>
                </a:solidFill>
                <a:latin typeface="Malgun Gothic" pitchFamily="34" charset="0"/>
                <a:ea typeface="Malgun Gothic" pitchFamily="34" charset="-122"/>
                <a:cs typeface="Malgun Gothic" pitchFamily="34" charset="-120"/>
              </a:rPr>
              <a:t>승객이 많이 밀집되어 있는지</a:t>
            </a:r>
            <a:endParaRPr lang="en-US" sz="1800" dirty="0"/>
          </a:p>
          <a:p>
            <a:pPr indent="0" marL="0">
              <a:lnSpc>
                <a:spcPct val="120000"/>
              </a:lnSpc>
              <a:buNone/>
            </a:pPr>
            <a:r>
              <a:rPr lang="en-US" sz="1800" b="1" dirty="0">
                <a:solidFill>
                  <a:srgbClr val="00703A"/>
                </a:solidFill>
                <a:latin typeface="Malgun Gothic" pitchFamily="34" charset="0"/>
                <a:ea typeface="Malgun Gothic" pitchFamily="34" charset="-122"/>
                <a:cs typeface="Malgun Gothic" pitchFamily="34" charset="-120"/>
              </a:rPr>
              <a:t>미리 예측할 수 있는 앱은 없을까?</a:t>
            </a:r>
            <a:endParaRPr lang="en-US" sz="1800" dirty="0"/>
          </a:p>
        </p:txBody>
      </p:sp>
      <p:sp>
        <p:nvSpPr>
          <p:cNvPr id="9" name="Text 6"/>
          <p:cNvSpPr txBox="1"/>
          <p:nvPr/>
        </p:nvSpPr>
        <p:spPr>
          <a:xfrm>
            <a:off x="502920" y="2697480"/>
            <a:ext cx="3566160" cy="548640"/>
          </a:xfrm>
          <a:prstGeom prst="rect">
            <a:avLst/>
          </a:prstGeom>
          <a:noFill/>
          <a:ln/>
        </p:spPr>
        <p:txBody>
          <a:bodyPr wrap="square" lIns="0" tIns="0" rIns="0" bIns="0" rtlCol="0" anchor="ctr"/>
          <a:lstStyle/>
          <a:p>
            <a:pPr indent="0" marL="0">
              <a:buNone/>
            </a:pPr>
            <a:r>
              <a:rPr lang="en-US" sz="1200" dirty="0">
                <a:solidFill>
                  <a:srgbClr val="5E6B63"/>
                </a:solidFill>
                <a:latin typeface="Malgun Gothic" pitchFamily="34" charset="0"/>
                <a:ea typeface="Malgun Gothic" pitchFamily="34" charset="-122"/>
                <a:cs typeface="Malgun Gothic" pitchFamily="34" charset="-120"/>
              </a:rPr>
              <a:t>출퇴근 시간마다 반복되는 혼잡을 다룬 기사들에서 출발했습니다.</a:t>
            </a:r>
            <a:endParaRPr lang="en-US" sz="1200" dirty="0"/>
          </a:p>
        </p:txBody>
      </p:sp>
      <p:sp>
        <p:nvSpPr>
          <p:cNvPr id="10" name="Shape 7"/>
          <p:cNvSpPr/>
          <p:nvPr/>
        </p:nvSpPr>
        <p:spPr>
          <a:xfrm>
            <a:off x="4480560" y="1463040"/>
            <a:ext cx="4160520" cy="868680"/>
          </a:xfrm>
          <a:prstGeom prst="rect">
            <a:avLst/>
          </a:prstGeom>
          <a:solidFill>
            <a:srgbClr val="EAF6EF"/>
          </a:solidFill>
          <a:ln w="12700">
            <a:solidFill>
              <a:srgbClr val="EAF6EF"/>
            </a:solidFill>
            <a:prstDash val="solid"/>
          </a:ln>
        </p:spPr>
      </p:sp>
      <p:sp>
        <p:nvSpPr>
          <p:cNvPr id="11" name="Text 8"/>
          <p:cNvSpPr txBox="1"/>
          <p:nvPr/>
        </p:nvSpPr>
        <p:spPr>
          <a:xfrm>
            <a:off x="4663440" y="1572768"/>
            <a:ext cx="3794760" cy="457200"/>
          </a:xfrm>
          <a:prstGeom prst="rect">
            <a:avLst/>
          </a:prstGeom>
          <a:noFill/>
          <a:ln/>
        </p:spPr>
        <p:txBody>
          <a:bodyPr wrap="square" lIns="0" tIns="0" rIns="0" bIns="0" rtlCol="0" anchor="ctr"/>
          <a:lstStyle/>
          <a:p>
            <a:pPr indent="0" marL="0">
              <a:buNone/>
            </a:pPr>
            <a:r>
              <a:rPr lang="en-US" sz="1250" b="1" dirty="0">
                <a:solidFill>
                  <a:srgbClr val="1E2B23"/>
                </a:solidFill>
                <a:latin typeface="Malgun Gothic" pitchFamily="34" charset="0"/>
                <a:ea typeface="Malgun Gothic" pitchFamily="34" charset="-122"/>
                <a:cs typeface="Malgun Gothic" pitchFamily="34" charset="-120"/>
              </a:rPr>
              <a:t>'출퇴근 지옥철' 서울 지하철…4·7·9호선 증회</a:t>
            </a:r>
            <a:endParaRPr lang="en-US" sz="1250" dirty="0"/>
          </a:p>
        </p:txBody>
      </p:sp>
      <p:sp>
        <p:nvSpPr>
          <p:cNvPr id="12" name="Text 9"/>
          <p:cNvSpPr txBox="1"/>
          <p:nvPr/>
        </p:nvSpPr>
        <p:spPr>
          <a:xfrm>
            <a:off x="4663440" y="2029968"/>
            <a:ext cx="3794760" cy="219456"/>
          </a:xfrm>
          <a:prstGeom prst="rect">
            <a:avLst/>
          </a:prstGeom>
          <a:noFill/>
          <a:ln/>
        </p:spPr>
        <p:txBody>
          <a:bodyPr wrap="square" lIns="0" tIns="0" rIns="0" bIns="0" rtlCol="0" anchor="ctr"/>
          <a:lstStyle/>
          <a:p>
            <a:pPr indent="0" marL="0">
              <a:buNone/>
            </a:pPr>
            <a:r>
              <a:rPr lang="en-US" sz="1000" dirty="0">
                <a:solidFill>
                  <a:srgbClr val="5E6B63"/>
                </a:solidFill>
                <a:latin typeface="Malgun Gothic" pitchFamily="34" charset="0"/>
                <a:ea typeface="Malgun Gothic" pitchFamily="34" charset="-122"/>
                <a:cs typeface="Malgun Gothic" pitchFamily="34" charset="-120"/>
              </a:rPr>
              <a:t>뉴스1, 2023.10.06</a:t>
            </a:r>
            <a:endParaRPr lang="en-US" sz="1000" dirty="0"/>
          </a:p>
        </p:txBody>
      </p:sp>
      <p:sp>
        <p:nvSpPr>
          <p:cNvPr id="13" name="Shape 10"/>
          <p:cNvSpPr/>
          <p:nvPr/>
        </p:nvSpPr>
        <p:spPr>
          <a:xfrm>
            <a:off x="4480560" y="2487168"/>
            <a:ext cx="4160520" cy="868680"/>
          </a:xfrm>
          <a:prstGeom prst="rect">
            <a:avLst/>
          </a:prstGeom>
          <a:solidFill>
            <a:srgbClr val="EAF6EF"/>
          </a:solidFill>
          <a:ln w="12700">
            <a:solidFill>
              <a:srgbClr val="EAF6EF"/>
            </a:solidFill>
            <a:prstDash val="solid"/>
          </a:ln>
        </p:spPr>
      </p:sp>
      <p:sp>
        <p:nvSpPr>
          <p:cNvPr id="14" name="Text 11"/>
          <p:cNvSpPr txBox="1"/>
          <p:nvPr/>
        </p:nvSpPr>
        <p:spPr>
          <a:xfrm>
            <a:off x="4663440" y="2596896"/>
            <a:ext cx="3794760" cy="457200"/>
          </a:xfrm>
          <a:prstGeom prst="rect">
            <a:avLst/>
          </a:prstGeom>
          <a:noFill/>
          <a:ln/>
        </p:spPr>
        <p:txBody>
          <a:bodyPr wrap="square" lIns="0" tIns="0" rIns="0" bIns="0" rtlCol="0" anchor="ctr"/>
          <a:lstStyle/>
          <a:p>
            <a:pPr indent="0" marL="0">
              <a:buNone/>
            </a:pPr>
            <a:r>
              <a:rPr lang="en-US" sz="1250" b="1" dirty="0">
                <a:solidFill>
                  <a:srgbClr val="1E2B23"/>
                </a:solidFill>
                <a:latin typeface="Malgun Gothic" pitchFamily="34" charset="0"/>
                <a:ea typeface="Malgun Gothic" pitchFamily="34" charset="-122"/>
                <a:cs typeface="Malgun Gothic" pitchFamily="34" charset="-120"/>
              </a:rPr>
              <a:t>'지옥철' 이틀째 "지하철 꽉 차서 못타"</a:t>
            </a:r>
            <a:endParaRPr lang="en-US" sz="1250" dirty="0"/>
          </a:p>
        </p:txBody>
      </p:sp>
      <p:sp>
        <p:nvSpPr>
          <p:cNvPr id="15" name="Text 12"/>
          <p:cNvSpPr txBox="1"/>
          <p:nvPr/>
        </p:nvSpPr>
        <p:spPr>
          <a:xfrm>
            <a:off x="4663440" y="3054096"/>
            <a:ext cx="3794760" cy="219456"/>
          </a:xfrm>
          <a:prstGeom prst="rect">
            <a:avLst/>
          </a:prstGeom>
          <a:noFill/>
          <a:ln/>
        </p:spPr>
        <p:txBody>
          <a:bodyPr wrap="square" lIns="0" tIns="0" rIns="0" bIns="0" rtlCol="0" anchor="ctr"/>
          <a:lstStyle/>
          <a:p>
            <a:pPr indent="0" marL="0">
              <a:buNone/>
            </a:pPr>
            <a:r>
              <a:rPr lang="en-US" sz="1000" dirty="0">
                <a:solidFill>
                  <a:srgbClr val="5E6B63"/>
                </a:solidFill>
                <a:latin typeface="Malgun Gothic" pitchFamily="34" charset="0"/>
                <a:ea typeface="Malgun Gothic" pitchFamily="34" charset="-122"/>
                <a:cs typeface="Malgun Gothic" pitchFamily="34" charset="-120"/>
              </a:rPr>
              <a:t>철도파업 감축 운행 관련 보도, 2023.09.15</a:t>
            </a:r>
            <a:endParaRPr lang="en-US" sz="1000" dirty="0"/>
          </a:p>
        </p:txBody>
      </p:sp>
      <p:sp>
        <p:nvSpPr>
          <p:cNvPr id="16" name="Shape 13"/>
          <p:cNvSpPr/>
          <p:nvPr/>
        </p:nvSpPr>
        <p:spPr>
          <a:xfrm>
            <a:off x="4480560" y="3511296"/>
            <a:ext cx="4160520" cy="868680"/>
          </a:xfrm>
          <a:prstGeom prst="rect">
            <a:avLst/>
          </a:prstGeom>
          <a:solidFill>
            <a:srgbClr val="EAF6EF"/>
          </a:solidFill>
          <a:ln w="12700">
            <a:solidFill>
              <a:srgbClr val="EAF6EF"/>
            </a:solidFill>
            <a:prstDash val="solid"/>
          </a:ln>
        </p:spPr>
      </p:sp>
      <p:sp>
        <p:nvSpPr>
          <p:cNvPr id="17" name="Text 14"/>
          <p:cNvSpPr txBox="1"/>
          <p:nvPr/>
        </p:nvSpPr>
        <p:spPr>
          <a:xfrm>
            <a:off x="4663440" y="3621024"/>
            <a:ext cx="3794760" cy="457200"/>
          </a:xfrm>
          <a:prstGeom prst="rect">
            <a:avLst/>
          </a:prstGeom>
          <a:noFill/>
          <a:ln/>
        </p:spPr>
        <p:txBody>
          <a:bodyPr wrap="square" lIns="0" tIns="0" rIns="0" bIns="0" rtlCol="0" anchor="ctr"/>
          <a:lstStyle/>
          <a:p>
            <a:pPr indent="0" marL="0">
              <a:buNone/>
            </a:pPr>
            <a:r>
              <a:rPr lang="en-US" sz="1250" b="1" dirty="0">
                <a:solidFill>
                  <a:srgbClr val="1E2B23"/>
                </a:solidFill>
                <a:latin typeface="Malgun Gothic" pitchFamily="34" charset="0"/>
                <a:ea typeface="Malgun Gothic" pitchFamily="34" charset="-122"/>
                <a:cs typeface="Malgun Gothic" pitchFamily="34" charset="-120"/>
              </a:rPr>
              <a:t>출근길 응급환자 속출…정원 112명인데 232명 타는 '지옥철'</a:t>
            </a:r>
            <a:endParaRPr lang="en-US" sz="1250" dirty="0"/>
          </a:p>
        </p:txBody>
      </p:sp>
      <p:sp>
        <p:nvSpPr>
          <p:cNvPr id="18" name="Text 15"/>
          <p:cNvSpPr txBox="1"/>
          <p:nvPr/>
        </p:nvSpPr>
        <p:spPr>
          <a:xfrm>
            <a:off x="4663440" y="4078224"/>
            <a:ext cx="3794760" cy="219456"/>
          </a:xfrm>
          <a:prstGeom prst="rect">
            <a:avLst/>
          </a:prstGeom>
          <a:noFill/>
          <a:ln/>
        </p:spPr>
        <p:txBody>
          <a:bodyPr wrap="square" lIns="0" tIns="0" rIns="0" bIns="0" rtlCol="0" anchor="ctr"/>
          <a:lstStyle/>
          <a:p>
            <a:pPr indent="0" marL="0">
              <a:buNone/>
            </a:pPr>
            <a:r>
              <a:rPr lang="en-US" sz="1000" dirty="0">
                <a:solidFill>
                  <a:srgbClr val="5E6B63"/>
                </a:solidFill>
                <a:latin typeface="Malgun Gothic" pitchFamily="34" charset="0"/>
                <a:ea typeface="Malgun Gothic" pitchFamily="34" charset="-122"/>
                <a:cs typeface="Malgun Gothic" pitchFamily="34" charset="-120"/>
              </a:rPr>
              <a:t>출근길 혼잡 관련 보도</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01  Project 목적</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막연한 정보가 아닌, 더 디테일한 데이터로</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04 / 13</a:t>
            </a:r>
            <a:endParaRPr lang="en-US" sz="900" dirty="0"/>
          </a:p>
        </p:txBody>
      </p:sp>
      <p:sp>
        <p:nvSpPr>
          <p:cNvPr id="8" name="Text 5"/>
          <p:cNvSpPr txBox="1"/>
          <p:nvPr/>
        </p:nvSpPr>
        <p:spPr>
          <a:xfrm>
            <a:off x="502920" y="1417320"/>
            <a:ext cx="8138160" cy="1188720"/>
          </a:xfrm>
          <a:prstGeom prst="rect">
            <a:avLst/>
          </a:prstGeom>
          <a:noFill/>
          <a:ln/>
        </p:spPr>
        <p:txBody>
          <a:bodyPr wrap="square" lIns="0" tIns="0" rIns="0" bIns="0" rtlCol="0" anchor="ctr"/>
          <a:lstStyle/>
          <a:p>
            <a:pPr indent="0" marL="0">
              <a:lnSpc>
                <a:spcPct val="135000"/>
              </a:lnSpc>
              <a:buNone/>
            </a:pPr>
            <a:r>
              <a:rPr lang="en-US" sz="1300" dirty="0">
                <a:solidFill>
                  <a:srgbClr val="1E2B23"/>
                </a:solidFill>
                <a:latin typeface="Malgun Gothic" pitchFamily="34" charset="0"/>
                <a:ea typeface="Malgun Gothic" pitchFamily="34" charset="-122"/>
                <a:cs typeface="Malgun Gothic" pitchFamily="34" charset="-120"/>
              </a:rPr>
              <a:t>이번 프로젝트를 통해서 일별은 물론 시간대별 이용 인원까지의 분석을 통해서 승객들이 많이 밀집되어 있는지 미리 예측하고, 지하철을 이용하고 있는 승객의 수를 분석하여, 기존의 지하철 어플리케이션에서 제공하는 단순한 지하철 승하차 시간 정보 외에 더욱 디테일한 지하철 데이터를 활용하여 개인의 올바른 선택을 돕고, 정기적인 이용자가 더 편리하게 지하철을 이용할 수 있도록 기여하고 싶습니다.</a:t>
            </a:r>
            <a:endParaRPr lang="en-US" sz="1300" dirty="0"/>
          </a:p>
        </p:txBody>
      </p:sp>
      <p:sp>
        <p:nvSpPr>
          <p:cNvPr id="9" name="Shape 6"/>
          <p:cNvSpPr/>
          <p:nvPr/>
        </p:nvSpPr>
        <p:spPr>
          <a:xfrm>
            <a:off x="1463040" y="3429000"/>
            <a:ext cx="6217920" cy="0"/>
          </a:xfrm>
          <a:prstGeom prst="line">
            <a:avLst/>
          </a:prstGeom>
          <a:noFill/>
          <a:ln w="76200">
            <a:solidFill>
              <a:srgbClr val="00A84D"/>
            </a:solidFill>
            <a:prstDash val="solid"/>
          </a:ln>
        </p:spPr>
      </p:sp>
      <p:sp>
        <p:nvSpPr>
          <p:cNvPr id="10" name="Shape 7"/>
          <p:cNvSpPr/>
          <p:nvPr/>
        </p:nvSpPr>
        <p:spPr>
          <a:xfrm>
            <a:off x="1261872" y="3227832"/>
            <a:ext cx="402336" cy="402336"/>
          </a:xfrm>
          <a:prstGeom prst="ellipse">
            <a:avLst/>
          </a:prstGeom>
          <a:solidFill>
            <a:srgbClr val="FFFFFF"/>
          </a:solidFill>
          <a:ln w="63500">
            <a:solidFill>
              <a:srgbClr val="00A84D"/>
            </a:solidFill>
            <a:prstDash val="solid"/>
          </a:ln>
        </p:spPr>
      </p:sp>
      <p:sp>
        <p:nvSpPr>
          <p:cNvPr id="11" name="Text 8"/>
          <p:cNvSpPr txBox="1"/>
          <p:nvPr/>
        </p:nvSpPr>
        <p:spPr>
          <a:xfrm>
            <a:off x="365760" y="3749040"/>
            <a:ext cx="2194560" cy="548640"/>
          </a:xfrm>
          <a:prstGeom prst="rect">
            <a:avLst/>
          </a:prstGeom>
          <a:noFill/>
          <a:ln/>
        </p:spPr>
        <p:txBody>
          <a:bodyPr wrap="square" lIns="0" tIns="0" rIns="0" bIns="0" rtlCol="0" anchor="ctr"/>
          <a:lstStyle/>
          <a:p>
            <a:pPr algn="ctr" indent="0" marL="0">
              <a:buNone/>
            </a:pPr>
            <a:r>
              <a:rPr lang="en-US" sz="1250" dirty="0">
                <a:solidFill>
                  <a:srgbClr val="1E2B23"/>
                </a:solidFill>
                <a:latin typeface="Malgun Gothic" pitchFamily="34" charset="0"/>
                <a:ea typeface="Malgun Gothic" pitchFamily="34" charset="-122"/>
                <a:cs typeface="Malgun Gothic" pitchFamily="34" charset="-120"/>
              </a:rPr>
              <a:t>일별·시간대별</a:t>
            </a:r>
            <a:endParaRPr lang="en-US" sz="1250" dirty="0"/>
          </a:p>
          <a:p>
            <a:pPr algn="ctr" indent="0" marL="0">
              <a:buNone/>
            </a:pPr>
            <a:r>
              <a:rPr lang="en-US" sz="1250" b="1" dirty="0">
                <a:solidFill>
                  <a:srgbClr val="1E2B23"/>
                </a:solidFill>
                <a:latin typeface="Malgun Gothic" pitchFamily="34" charset="0"/>
                <a:ea typeface="Malgun Gothic" pitchFamily="34" charset="-122"/>
                <a:cs typeface="Malgun Gothic" pitchFamily="34" charset="-120"/>
              </a:rPr>
              <a:t>이용 인원 분석</a:t>
            </a:r>
            <a:endParaRPr lang="en-US" sz="1250" dirty="0"/>
          </a:p>
        </p:txBody>
      </p:sp>
      <p:sp>
        <p:nvSpPr>
          <p:cNvPr id="12" name="Shape 9"/>
          <p:cNvSpPr/>
          <p:nvPr/>
        </p:nvSpPr>
        <p:spPr>
          <a:xfrm>
            <a:off x="4370832" y="3227832"/>
            <a:ext cx="402336" cy="402336"/>
          </a:xfrm>
          <a:prstGeom prst="ellipse">
            <a:avLst/>
          </a:prstGeom>
          <a:solidFill>
            <a:srgbClr val="FFFFFF"/>
          </a:solidFill>
          <a:ln w="63500">
            <a:solidFill>
              <a:srgbClr val="00A84D"/>
            </a:solidFill>
            <a:prstDash val="solid"/>
          </a:ln>
        </p:spPr>
      </p:sp>
      <p:sp>
        <p:nvSpPr>
          <p:cNvPr id="13" name="Text 10"/>
          <p:cNvSpPr txBox="1"/>
          <p:nvPr/>
        </p:nvSpPr>
        <p:spPr>
          <a:xfrm>
            <a:off x="3474720" y="3749040"/>
            <a:ext cx="2194560" cy="548640"/>
          </a:xfrm>
          <a:prstGeom prst="rect">
            <a:avLst/>
          </a:prstGeom>
          <a:noFill/>
          <a:ln/>
        </p:spPr>
        <p:txBody>
          <a:bodyPr wrap="square" lIns="0" tIns="0" rIns="0" bIns="0" rtlCol="0" anchor="ctr"/>
          <a:lstStyle/>
          <a:p>
            <a:pPr algn="ctr" indent="0" marL="0">
              <a:buNone/>
            </a:pPr>
            <a:r>
              <a:rPr lang="en-US" sz="1250" dirty="0">
                <a:solidFill>
                  <a:srgbClr val="1E2B23"/>
                </a:solidFill>
                <a:latin typeface="Malgun Gothic" pitchFamily="34" charset="0"/>
                <a:ea typeface="Malgun Gothic" pitchFamily="34" charset="-122"/>
                <a:cs typeface="Malgun Gothic" pitchFamily="34" charset="-120"/>
              </a:rPr>
              <a:t>밀집도</a:t>
            </a:r>
            <a:endParaRPr lang="en-US" sz="1250" dirty="0"/>
          </a:p>
          <a:p>
            <a:pPr algn="ctr" indent="0" marL="0">
              <a:buNone/>
            </a:pPr>
            <a:r>
              <a:rPr lang="en-US" sz="1250" b="1" dirty="0">
                <a:solidFill>
                  <a:srgbClr val="1E2B23"/>
                </a:solidFill>
                <a:latin typeface="Malgun Gothic" pitchFamily="34" charset="0"/>
                <a:ea typeface="Malgun Gothic" pitchFamily="34" charset="-122"/>
                <a:cs typeface="Malgun Gothic" pitchFamily="34" charset="-120"/>
              </a:rPr>
              <a:t>미리 예측</a:t>
            </a:r>
            <a:endParaRPr lang="en-US" sz="1250" dirty="0"/>
          </a:p>
        </p:txBody>
      </p:sp>
      <p:sp>
        <p:nvSpPr>
          <p:cNvPr id="14" name="Shape 11"/>
          <p:cNvSpPr/>
          <p:nvPr/>
        </p:nvSpPr>
        <p:spPr>
          <a:xfrm>
            <a:off x="7479792" y="3227832"/>
            <a:ext cx="402336" cy="402336"/>
          </a:xfrm>
          <a:prstGeom prst="ellipse">
            <a:avLst/>
          </a:prstGeom>
          <a:solidFill>
            <a:srgbClr val="00A84D"/>
          </a:solidFill>
          <a:ln w="63500">
            <a:solidFill>
              <a:srgbClr val="00A84D"/>
            </a:solidFill>
            <a:prstDash val="solid"/>
          </a:ln>
        </p:spPr>
      </p:sp>
      <p:sp>
        <p:nvSpPr>
          <p:cNvPr id="15" name="Text 12"/>
          <p:cNvSpPr txBox="1"/>
          <p:nvPr/>
        </p:nvSpPr>
        <p:spPr>
          <a:xfrm>
            <a:off x="6583680" y="3749040"/>
            <a:ext cx="2194560" cy="548640"/>
          </a:xfrm>
          <a:prstGeom prst="rect">
            <a:avLst/>
          </a:prstGeom>
          <a:noFill/>
          <a:ln/>
        </p:spPr>
        <p:txBody>
          <a:bodyPr wrap="square" lIns="0" tIns="0" rIns="0" bIns="0" rtlCol="0" anchor="ctr"/>
          <a:lstStyle/>
          <a:p>
            <a:pPr algn="ctr" indent="0" marL="0">
              <a:buNone/>
            </a:pPr>
            <a:r>
              <a:rPr lang="en-US" sz="1250" dirty="0">
                <a:solidFill>
                  <a:srgbClr val="1E2B23"/>
                </a:solidFill>
                <a:latin typeface="Malgun Gothic" pitchFamily="34" charset="0"/>
                <a:ea typeface="Malgun Gothic" pitchFamily="34" charset="-122"/>
                <a:cs typeface="Malgun Gothic" pitchFamily="34" charset="-120"/>
              </a:rPr>
              <a:t>개인의</a:t>
            </a:r>
            <a:endParaRPr lang="en-US" sz="1250" dirty="0"/>
          </a:p>
          <a:p>
            <a:pPr algn="ctr" indent="0" marL="0">
              <a:buNone/>
            </a:pPr>
            <a:r>
              <a:rPr lang="en-US" sz="1250" b="1" dirty="0">
                <a:solidFill>
                  <a:srgbClr val="1E2B23"/>
                </a:solidFill>
                <a:latin typeface="Malgun Gothic" pitchFamily="34" charset="0"/>
                <a:ea typeface="Malgun Gothic" pitchFamily="34" charset="-122"/>
                <a:cs typeface="Malgun Gothic" pitchFamily="34" charset="-120"/>
              </a:rPr>
              <a:t>올바른 선택</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02  참고 자료 및 출처</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활용 데이터</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05 / 13</a:t>
            </a:r>
            <a:endParaRPr lang="en-US" sz="900" dirty="0"/>
          </a:p>
        </p:txBody>
      </p:sp>
      <p:sp>
        <p:nvSpPr>
          <p:cNvPr id="8" name="Shape 5"/>
          <p:cNvSpPr/>
          <p:nvPr/>
        </p:nvSpPr>
        <p:spPr>
          <a:xfrm>
            <a:off x="502920" y="1463040"/>
            <a:ext cx="1143000" cy="256032"/>
          </a:xfrm>
          <a:prstGeom prst="roundRect">
            <a:avLst>
              <a:gd name="adj" fmla="val 50000"/>
            </a:avLst>
          </a:prstGeom>
          <a:solidFill>
            <a:srgbClr val="00703A"/>
          </a:solidFill>
          <a:ln w="12700">
            <a:solidFill>
              <a:srgbClr val="00703A"/>
            </a:solidFill>
            <a:prstDash val="solid"/>
          </a:ln>
        </p:spPr>
      </p:sp>
      <p:sp>
        <p:nvSpPr>
          <p:cNvPr id="9" name="Text 6"/>
          <p:cNvSpPr txBox="1"/>
          <p:nvPr/>
        </p:nvSpPr>
        <p:spPr>
          <a:xfrm>
            <a:off x="502920" y="1463040"/>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CSV</a:t>
            </a:r>
            <a:endParaRPr lang="en-US" sz="950" dirty="0"/>
          </a:p>
        </p:txBody>
      </p:sp>
      <p:sp>
        <p:nvSpPr>
          <p:cNvPr id="10" name="Text 7"/>
          <p:cNvSpPr txBox="1"/>
          <p:nvPr/>
        </p:nvSpPr>
        <p:spPr>
          <a:xfrm>
            <a:off x="1783080" y="1417320"/>
            <a:ext cx="6858000" cy="329184"/>
          </a:xfrm>
          <a:prstGeom prst="rect">
            <a:avLst/>
          </a:prstGeom>
          <a:noFill/>
          <a:ln/>
        </p:spPr>
        <p:txBody>
          <a:bodyPr wrap="square" lIns="0" tIns="0" rIns="0" bIns="0" rtlCol="0" anchor="ctr"/>
          <a:lstStyle/>
          <a:p>
            <a:pPr indent="0" marL="0">
              <a:buNone/>
            </a:pPr>
            <a:r>
              <a:rPr lang="en-US" sz="1350" b="1" dirty="0">
                <a:solidFill>
                  <a:srgbClr val="1E2B23"/>
                </a:solidFill>
                <a:latin typeface="Malgun Gothic" pitchFamily="34" charset="0"/>
                <a:ea typeface="Malgun Gothic" pitchFamily="34" charset="-122"/>
                <a:cs typeface="Malgun Gothic" pitchFamily="34" charset="-120"/>
              </a:rPr>
              <a:t>서울시 지하철 호선별 역별 시간대별 승하차 인원 정보.csv</a:t>
            </a:r>
            <a:endParaRPr lang="en-US" sz="1350" dirty="0"/>
          </a:p>
        </p:txBody>
      </p:sp>
      <p:sp>
        <p:nvSpPr>
          <p:cNvPr id="11" name="Text 8"/>
          <p:cNvSpPr txBox="1"/>
          <p:nvPr/>
        </p:nvSpPr>
        <p:spPr>
          <a:xfrm>
            <a:off x="1783080" y="1746504"/>
            <a:ext cx="6858000" cy="274320"/>
          </a:xfrm>
          <a:prstGeom prst="rect">
            <a:avLst/>
          </a:prstGeom>
          <a:noFill/>
          <a:ln/>
        </p:spPr>
        <p:txBody>
          <a:bodyPr wrap="square" lIns="0" tIns="0" rIns="0" bIns="0" rtlCol="0" anchor="ctr"/>
          <a:lstStyle/>
          <a:p>
            <a:pPr indent="0" marL="0">
              <a:buNone/>
            </a:pPr>
            <a:r>
              <a:rPr lang="en-US" sz="1100" dirty="0">
                <a:solidFill>
                  <a:srgbClr val="5E6B63"/>
                </a:solidFill>
                <a:latin typeface="Malgun Gothic" pitchFamily="34" charset="0"/>
                <a:ea typeface="Malgun Gothic" pitchFamily="34" charset="-122"/>
                <a:cs typeface="Malgun Gothic" pitchFamily="34" charset="-120"/>
              </a:rPr>
              <a:t>교통카드(선후불·1회용) 기준 1~9호선 시간대별 승하차 인원, 매월 5일 전월 데이터 갱신</a:t>
            </a:r>
            <a:endParaRPr lang="en-US" sz="1100" dirty="0"/>
          </a:p>
        </p:txBody>
      </p:sp>
      <p:sp>
        <p:nvSpPr>
          <p:cNvPr id="12" name="Shape 9"/>
          <p:cNvSpPr/>
          <p:nvPr/>
        </p:nvSpPr>
        <p:spPr>
          <a:xfrm>
            <a:off x="502920" y="2240280"/>
            <a:ext cx="1143000" cy="256032"/>
          </a:xfrm>
          <a:prstGeom prst="roundRect">
            <a:avLst>
              <a:gd name="adj" fmla="val 50000"/>
            </a:avLst>
          </a:prstGeom>
          <a:solidFill>
            <a:srgbClr val="00703A"/>
          </a:solidFill>
          <a:ln w="12700">
            <a:solidFill>
              <a:srgbClr val="00703A"/>
            </a:solidFill>
            <a:prstDash val="solid"/>
          </a:ln>
        </p:spPr>
      </p:sp>
      <p:sp>
        <p:nvSpPr>
          <p:cNvPr id="13" name="Text 10"/>
          <p:cNvSpPr txBox="1"/>
          <p:nvPr/>
        </p:nvSpPr>
        <p:spPr>
          <a:xfrm>
            <a:off x="502920" y="2240280"/>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CSV</a:t>
            </a:r>
            <a:endParaRPr lang="en-US" sz="950" dirty="0"/>
          </a:p>
        </p:txBody>
      </p:sp>
      <p:sp>
        <p:nvSpPr>
          <p:cNvPr id="14" name="Text 11"/>
          <p:cNvSpPr txBox="1"/>
          <p:nvPr/>
        </p:nvSpPr>
        <p:spPr>
          <a:xfrm>
            <a:off x="1783080" y="2194560"/>
            <a:ext cx="6858000" cy="329184"/>
          </a:xfrm>
          <a:prstGeom prst="rect">
            <a:avLst/>
          </a:prstGeom>
          <a:noFill/>
          <a:ln/>
        </p:spPr>
        <p:txBody>
          <a:bodyPr wrap="square" lIns="0" tIns="0" rIns="0" bIns="0" rtlCol="0" anchor="ctr"/>
          <a:lstStyle/>
          <a:p>
            <a:pPr indent="0" marL="0">
              <a:buNone/>
            </a:pPr>
            <a:r>
              <a:rPr lang="en-US" sz="1350" b="1" dirty="0">
                <a:solidFill>
                  <a:srgbClr val="1E2B23"/>
                </a:solidFill>
                <a:latin typeface="Malgun Gothic" pitchFamily="34" charset="0"/>
                <a:ea typeface="Malgun Gothic" pitchFamily="34" charset="-122"/>
                <a:cs typeface="Malgun Gothic" pitchFamily="34" charset="-120"/>
              </a:rPr>
              <a:t>서울시 역사 위도 경도 정보.csv</a:t>
            </a:r>
            <a:endParaRPr lang="en-US" sz="1350" dirty="0"/>
          </a:p>
        </p:txBody>
      </p:sp>
      <p:sp>
        <p:nvSpPr>
          <p:cNvPr id="15" name="Text 12"/>
          <p:cNvSpPr txBox="1"/>
          <p:nvPr/>
        </p:nvSpPr>
        <p:spPr>
          <a:xfrm>
            <a:off x="1783080" y="2523744"/>
            <a:ext cx="6858000" cy="274320"/>
          </a:xfrm>
          <a:prstGeom prst="rect">
            <a:avLst/>
          </a:prstGeom>
          <a:noFill/>
          <a:ln/>
        </p:spPr>
        <p:txBody>
          <a:bodyPr wrap="square" lIns="0" tIns="0" rIns="0" bIns="0" rtlCol="0" anchor="ctr"/>
          <a:lstStyle/>
          <a:p>
            <a:pPr indent="0" marL="0">
              <a:buNone/>
            </a:pPr>
            <a:r>
              <a:rPr lang="en-US" sz="1100" dirty="0">
                <a:solidFill>
                  <a:srgbClr val="5E6B63"/>
                </a:solidFill>
                <a:latin typeface="Malgun Gothic" pitchFamily="34" charset="0"/>
                <a:ea typeface="Malgun Gothic" pitchFamily="34" charset="-122"/>
                <a:cs typeface="Malgun Gothic" pitchFamily="34" charset="-120"/>
              </a:rPr>
              <a:t>역 위치를 지도에 표시하기 위한 좌표 데이터</a:t>
            </a:r>
            <a:endParaRPr lang="en-US" sz="1100" dirty="0"/>
          </a:p>
        </p:txBody>
      </p:sp>
      <p:sp>
        <p:nvSpPr>
          <p:cNvPr id="16" name="Shape 13"/>
          <p:cNvSpPr/>
          <p:nvPr/>
        </p:nvSpPr>
        <p:spPr>
          <a:xfrm>
            <a:off x="1700784" y="2889504"/>
            <a:ext cx="5742432" cy="1464386"/>
          </a:xfrm>
          <a:prstGeom prst="rect">
            <a:avLst/>
          </a:prstGeom>
          <a:solidFill>
            <a:srgbClr val="FFFFFF"/>
          </a:solidFill>
          <a:ln w="12700">
            <a:solidFill>
              <a:srgbClr val="D5E3DA"/>
            </a:solidFill>
            <a:prstDash val="solid"/>
          </a:ln>
        </p:spPr>
      </p:sp>
      <p:pic>
        <p:nvPicPr>
          <p:cNvPr id="17" name="Image 0" descr="/home/claude/w/img/datasource.png">    </p:cNvPr>
          <p:cNvPicPr>
            <a:picLocks noChangeAspect="1"/>
          </p:cNvPicPr>
          <p:nvPr/>
        </p:nvPicPr>
        <p:blipFill>
          <a:blip r:embed="rId1"/>
          <a:stretch>
            <a:fillRect/>
          </a:stretch>
        </p:blipFill>
        <p:spPr>
          <a:xfrm>
            <a:off x="1737360" y="2926080"/>
            <a:ext cx="5669280" cy="1391234"/>
          </a:xfrm>
          <a:prstGeom prst="rect">
            <a:avLst/>
          </a:prstGeom>
        </p:spPr>
      </p:pic>
      <p:sp>
        <p:nvSpPr>
          <p:cNvPr id="18" name="Text 14"/>
          <p:cNvSpPr txBox="1"/>
          <p:nvPr/>
        </p:nvSpPr>
        <p:spPr>
          <a:xfrm>
            <a:off x="1737360" y="4407408"/>
            <a:ext cx="5669280" cy="274320"/>
          </a:xfrm>
          <a:prstGeom prst="rect">
            <a:avLst/>
          </a:prstGeom>
          <a:noFill/>
          <a:ln/>
        </p:spPr>
        <p:txBody>
          <a:bodyPr wrap="square" lIns="0" tIns="0" rIns="0" bIns="0" rtlCol="0" anchor="ctr"/>
          <a:lstStyle/>
          <a:p>
            <a:pPr indent="0" marL="0">
              <a:buNone/>
            </a:pPr>
            <a:r>
              <a:rPr lang="en-US" sz="1000" dirty="0">
                <a:solidFill>
                  <a:srgbClr val="5E6B63"/>
                </a:solidFill>
                <a:latin typeface="Malgun Gothic" pitchFamily="34" charset="0"/>
                <a:ea typeface="Malgun Gothic" pitchFamily="34" charset="-122"/>
                <a:cs typeface="Malgun Gothic" pitchFamily="34" charset="-120"/>
              </a:rPr>
              <a:t>출처: 서울시 공공데이터 "서울시 지하철 호선별 역별 시간대별 승하차 인원 정보"</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03  데이터 수집</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라이브러리와 데이터 불러오기</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06 / 13</a:t>
            </a:r>
            <a:endParaRPr lang="en-US" sz="900" dirty="0"/>
          </a:p>
        </p:txBody>
      </p:sp>
      <p:sp>
        <p:nvSpPr>
          <p:cNvPr id="8" name="Shape 5"/>
          <p:cNvSpPr/>
          <p:nvPr/>
        </p:nvSpPr>
        <p:spPr>
          <a:xfrm>
            <a:off x="512064" y="1380744"/>
            <a:ext cx="4456448" cy="3319272"/>
          </a:xfrm>
          <a:prstGeom prst="rect">
            <a:avLst/>
          </a:prstGeom>
          <a:solidFill>
            <a:srgbClr val="FFFFFF"/>
          </a:solidFill>
          <a:ln w="12700">
            <a:solidFill>
              <a:srgbClr val="D5E3DA"/>
            </a:solidFill>
            <a:prstDash val="solid"/>
          </a:ln>
        </p:spPr>
      </p:sp>
      <p:pic>
        <p:nvPicPr>
          <p:cNvPr id="9" name="Image 0" descr="/home/claude/w/img/code_load.png">    </p:cNvPr>
          <p:cNvPicPr>
            <a:picLocks noChangeAspect="1"/>
          </p:cNvPicPr>
          <p:nvPr/>
        </p:nvPicPr>
        <p:blipFill>
          <a:blip r:embed="rId1"/>
          <a:stretch>
            <a:fillRect/>
          </a:stretch>
        </p:blipFill>
        <p:spPr>
          <a:xfrm>
            <a:off x="548640" y="1417320"/>
            <a:ext cx="4383296" cy="3246120"/>
          </a:xfrm>
          <a:prstGeom prst="rect">
            <a:avLst/>
          </a:prstGeom>
        </p:spPr>
      </p:pic>
      <p:sp>
        <p:nvSpPr>
          <p:cNvPr id="10" name="Shape 6"/>
          <p:cNvSpPr/>
          <p:nvPr/>
        </p:nvSpPr>
        <p:spPr>
          <a:xfrm>
            <a:off x="5343416" y="1417320"/>
            <a:ext cx="1143000" cy="256032"/>
          </a:xfrm>
          <a:prstGeom prst="roundRect">
            <a:avLst>
              <a:gd name="adj" fmla="val 50000"/>
            </a:avLst>
          </a:prstGeom>
          <a:solidFill>
            <a:srgbClr val="00703A"/>
          </a:solidFill>
          <a:ln w="12700">
            <a:solidFill>
              <a:srgbClr val="00703A"/>
            </a:solidFill>
            <a:prstDash val="solid"/>
          </a:ln>
        </p:spPr>
      </p:sp>
      <p:sp>
        <p:nvSpPr>
          <p:cNvPr id="11" name="Text 7"/>
          <p:cNvSpPr txBox="1"/>
          <p:nvPr/>
        </p:nvSpPr>
        <p:spPr>
          <a:xfrm>
            <a:off x="5343416" y="1417320"/>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Python</a:t>
            </a:r>
            <a:endParaRPr lang="en-US" sz="950" dirty="0"/>
          </a:p>
        </p:txBody>
      </p:sp>
      <p:sp>
        <p:nvSpPr>
          <p:cNvPr id="12" name="Text 8"/>
          <p:cNvSpPr txBox="1"/>
          <p:nvPr/>
        </p:nvSpPr>
        <p:spPr>
          <a:xfrm>
            <a:off x="5343416" y="1920240"/>
            <a:ext cx="3297664" cy="274320"/>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In [1]</a:t>
            </a:r>
            <a:endParaRPr lang="en-US" sz="1100" dirty="0"/>
          </a:p>
        </p:txBody>
      </p:sp>
      <p:sp>
        <p:nvSpPr>
          <p:cNvPr id="13" name="Text 9"/>
          <p:cNvSpPr txBox="1"/>
          <p:nvPr/>
        </p:nvSpPr>
        <p:spPr>
          <a:xfrm>
            <a:off x="5343416" y="2194560"/>
            <a:ext cx="3297664" cy="502920"/>
          </a:xfrm>
          <a:prstGeom prst="rect">
            <a:avLst/>
          </a:prstGeom>
          <a:noFill/>
          <a:ln/>
        </p:spPr>
        <p:txBody>
          <a:bodyPr wrap="square" lIns="0" tIns="0" rIns="0" bIns="0" rtlCol="0" anchor="ctr"/>
          <a:lstStyle/>
          <a:p>
            <a:pPr indent="0" marL="0">
              <a:buNone/>
            </a:pPr>
            <a:r>
              <a:rPr lang="en-US" sz="1250" dirty="0">
                <a:solidFill>
                  <a:srgbClr val="1E2B23"/>
                </a:solidFill>
                <a:latin typeface="Malgun Gothic" pitchFamily="34" charset="0"/>
                <a:ea typeface="Malgun Gothic" pitchFamily="34" charset="-122"/>
                <a:cs typeface="Malgun Gothic" pitchFamily="34" charset="-120"/>
              </a:rPr>
              <a:t>numpy, pandas, matplotlib, seaborn 불러오기</a:t>
            </a:r>
            <a:endParaRPr lang="en-US" sz="1250" dirty="0"/>
          </a:p>
        </p:txBody>
      </p:sp>
      <p:sp>
        <p:nvSpPr>
          <p:cNvPr id="14" name="Text 10"/>
          <p:cNvSpPr txBox="1"/>
          <p:nvPr/>
        </p:nvSpPr>
        <p:spPr>
          <a:xfrm>
            <a:off x="5343416" y="2788920"/>
            <a:ext cx="3297664" cy="274320"/>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In [2]</a:t>
            </a:r>
            <a:endParaRPr lang="en-US" sz="1100" dirty="0"/>
          </a:p>
        </p:txBody>
      </p:sp>
      <p:sp>
        <p:nvSpPr>
          <p:cNvPr id="15" name="Text 11"/>
          <p:cNvSpPr txBox="1"/>
          <p:nvPr/>
        </p:nvSpPr>
        <p:spPr>
          <a:xfrm>
            <a:off x="5343416" y="3063240"/>
            <a:ext cx="3297664" cy="502920"/>
          </a:xfrm>
          <a:prstGeom prst="rect">
            <a:avLst/>
          </a:prstGeom>
          <a:noFill/>
          <a:ln/>
        </p:spPr>
        <p:txBody>
          <a:bodyPr wrap="square" lIns="0" tIns="0" rIns="0" bIns="0" rtlCol="0" anchor="ctr"/>
          <a:lstStyle/>
          <a:p>
            <a:pPr indent="0" marL="0">
              <a:buNone/>
            </a:pPr>
            <a:r>
              <a:rPr lang="en-US" sz="1250" dirty="0">
                <a:solidFill>
                  <a:srgbClr val="1E2B23"/>
                </a:solidFill>
                <a:latin typeface="Malgun Gothic" pitchFamily="34" charset="0"/>
                <a:ea typeface="Malgun Gothic" pitchFamily="34" charset="-122"/>
                <a:cs typeface="Malgun Gothic" pitchFamily="34" charset="-120"/>
              </a:rPr>
              <a:t>승하차 인원 CSV를 cp949 인코딩으로 읽기</a:t>
            </a:r>
            <a:endParaRPr lang="en-US" sz="1250" dirty="0"/>
          </a:p>
        </p:txBody>
      </p:sp>
      <p:sp>
        <p:nvSpPr>
          <p:cNvPr id="16" name="Text 12"/>
          <p:cNvSpPr txBox="1"/>
          <p:nvPr/>
        </p:nvSpPr>
        <p:spPr>
          <a:xfrm>
            <a:off x="5343416" y="3657600"/>
            <a:ext cx="3297664" cy="274320"/>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In [3]</a:t>
            </a:r>
            <a:endParaRPr lang="en-US" sz="1100" dirty="0"/>
          </a:p>
        </p:txBody>
      </p:sp>
      <p:sp>
        <p:nvSpPr>
          <p:cNvPr id="17" name="Text 13"/>
          <p:cNvSpPr txBox="1"/>
          <p:nvPr/>
        </p:nvSpPr>
        <p:spPr>
          <a:xfrm>
            <a:off x="5343416" y="3931920"/>
            <a:ext cx="3297664" cy="502920"/>
          </a:xfrm>
          <a:prstGeom prst="rect">
            <a:avLst/>
          </a:prstGeom>
          <a:noFill/>
          <a:ln/>
        </p:spPr>
        <p:txBody>
          <a:bodyPr wrap="square" lIns="0" tIns="0" rIns="0" bIns="0" rtlCol="0" anchor="ctr"/>
          <a:lstStyle/>
          <a:p>
            <a:pPr indent="0" marL="0">
              <a:buNone/>
            </a:pPr>
            <a:r>
              <a:rPr lang="en-US" sz="1250" dirty="0">
                <a:solidFill>
                  <a:srgbClr val="1E2B23"/>
                </a:solidFill>
                <a:latin typeface="Malgun Gothic" pitchFamily="34" charset="0"/>
                <a:ea typeface="Malgun Gothic" pitchFamily="34" charset="-122"/>
                <a:cs typeface="Malgun Gothic" pitchFamily="34" charset="-120"/>
              </a:rPr>
              <a:t>운영체제별 한글 폰트를 설정하는 함수 작성</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03  데이터 수집</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사람들이 많이 모이는 시간, 역 찾기</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07 / 13</a:t>
            </a:r>
            <a:endParaRPr lang="en-US" sz="900" dirty="0"/>
          </a:p>
        </p:txBody>
      </p:sp>
      <p:sp>
        <p:nvSpPr>
          <p:cNvPr id="8" name="Shape 5"/>
          <p:cNvSpPr/>
          <p:nvPr/>
        </p:nvSpPr>
        <p:spPr>
          <a:xfrm>
            <a:off x="512064" y="1380744"/>
            <a:ext cx="4300031" cy="3319272"/>
          </a:xfrm>
          <a:prstGeom prst="rect">
            <a:avLst/>
          </a:prstGeom>
          <a:solidFill>
            <a:srgbClr val="FFFFFF"/>
          </a:solidFill>
          <a:ln w="12700">
            <a:solidFill>
              <a:srgbClr val="D5E3DA"/>
            </a:solidFill>
            <a:prstDash val="solid"/>
          </a:ln>
        </p:spPr>
      </p:sp>
      <p:pic>
        <p:nvPicPr>
          <p:cNvPr id="9" name="Image 0" descr="/home/claude/w/img/dataframe.png">    </p:cNvPr>
          <p:cNvPicPr>
            <a:picLocks noChangeAspect="1"/>
          </p:cNvPicPr>
          <p:nvPr/>
        </p:nvPicPr>
        <p:blipFill>
          <a:blip r:embed="rId1"/>
          <a:stretch>
            <a:fillRect/>
          </a:stretch>
        </p:blipFill>
        <p:spPr>
          <a:xfrm>
            <a:off x="548640" y="1417320"/>
            <a:ext cx="4226879" cy="3246120"/>
          </a:xfrm>
          <a:prstGeom prst="rect">
            <a:avLst/>
          </a:prstGeom>
        </p:spPr>
      </p:pic>
      <p:sp>
        <p:nvSpPr>
          <p:cNvPr id="10" name="Text 6"/>
          <p:cNvSpPr txBox="1"/>
          <p:nvPr/>
        </p:nvSpPr>
        <p:spPr>
          <a:xfrm>
            <a:off x="5186999" y="1463040"/>
            <a:ext cx="3454081" cy="1371600"/>
          </a:xfrm>
          <a:prstGeom prst="rect">
            <a:avLst/>
          </a:prstGeom>
          <a:noFill/>
          <a:ln/>
        </p:spPr>
        <p:txBody>
          <a:bodyPr wrap="square" lIns="0" tIns="0" rIns="0" bIns="0" rtlCol="0" anchor="ctr"/>
          <a:lstStyle/>
          <a:p>
            <a:pPr indent="0" marL="0">
              <a:lnSpc>
                <a:spcPct val="135000"/>
              </a:lnSpc>
              <a:buNone/>
            </a:pPr>
            <a:r>
              <a:rPr lang="en-US" sz="1300" dirty="0">
                <a:solidFill>
                  <a:srgbClr val="1E2B23"/>
                </a:solidFill>
                <a:latin typeface="Malgun Gothic" pitchFamily="34" charset="0"/>
                <a:ea typeface="Malgun Gothic" pitchFamily="34" charset="-122"/>
                <a:cs typeface="Malgun Gothic" pitchFamily="34" charset="-120"/>
              </a:rPr>
              <a:t>승·하차로 데이터를 나눠서 분석하였고, 2015년 1월부터 2023년 8월까지의 승객 수를 합쳐서 언제 어디에 가장 승객들이 많은지 찾아보았습니다.</a:t>
            </a:r>
            <a:endParaRPr lang="en-US" sz="1300" dirty="0"/>
          </a:p>
        </p:txBody>
      </p:sp>
      <p:sp>
        <p:nvSpPr>
          <p:cNvPr id="11" name="Text 7"/>
          <p:cNvSpPr txBox="1"/>
          <p:nvPr/>
        </p:nvSpPr>
        <p:spPr>
          <a:xfrm>
            <a:off x="5186999" y="3017520"/>
            <a:ext cx="3454081" cy="411480"/>
          </a:xfrm>
          <a:prstGeom prst="rect">
            <a:avLst/>
          </a:prstGeom>
          <a:noFill/>
          <a:ln/>
        </p:spPr>
        <p:txBody>
          <a:bodyPr wrap="square" lIns="0" tIns="0" rIns="0" bIns="0" rtlCol="0" anchor="ctr"/>
          <a:lstStyle/>
          <a:p>
            <a:pPr indent="0" marL="0">
              <a:buNone/>
            </a:pPr>
            <a:r>
              <a:rPr lang="en-US" sz="2000" b="1" dirty="0">
                <a:solidFill>
                  <a:srgbClr val="00703A"/>
                </a:solidFill>
                <a:latin typeface="Malgun Gothic" pitchFamily="34" charset="0"/>
                <a:ea typeface="Malgun Gothic" pitchFamily="34" charset="-122"/>
                <a:cs typeface="Malgun Gothic" pitchFamily="34" charset="-120"/>
              </a:rPr>
              <a:t>61,254행</a:t>
            </a:r>
            <a:endParaRPr lang="en-US" sz="2000" dirty="0"/>
          </a:p>
        </p:txBody>
      </p:sp>
      <p:sp>
        <p:nvSpPr>
          <p:cNvPr id="12" name="Text 8"/>
          <p:cNvSpPr txBox="1"/>
          <p:nvPr/>
        </p:nvSpPr>
        <p:spPr>
          <a:xfrm>
            <a:off x="5186999" y="3429000"/>
            <a:ext cx="3454081" cy="256032"/>
          </a:xfrm>
          <a:prstGeom prst="rect">
            <a:avLst/>
          </a:prstGeom>
          <a:noFill/>
          <a:ln/>
        </p:spPr>
        <p:txBody>
          <a:bodyPr wrap="square" lIns="0" tIns="0" rIns="0" bIns="0" rtlCol="0" anchor="ctr"/>
          <a:lstStyle/>
          <a:p>
            <a:pPr indent="0" marL="0">
              <a:buNone/>
            </a:pPr>
            <a:r>
              <a:rPr lang="en-US" sz="1050" dirty="0">
                <a:solidFill>
                  <a:srgbClr val="5E6B63"/>
                </a:solidFill>
                <a:latin typeface="Malgun Gothic" pitchFamily="34" charset="0"/>
                <a:ea typeface="Malgun Gothic" pitchFamily="34" charset="-122"/>
                <a:cs typeface="Malgun Gothic" pitchFamily="34" charset="-120"/>
              </a:rPr>
              <a:t>불러온 데이터 행 수</a:t>
            </a:r>
            <a:endParaRPr lang="en-US" sz="1050" dirty="0"/>
          </a:p>
        </p:txBody>
      </p:sp>
      <p:sp>
        <p:nvSpPr>
          <p:cNvPr id="13" name="Text 9"/>
          <p:cNvSpPr txBox="1"/>
          <p:nvPr/>
        </p:nvSpPr>
        <p:spPr>
          <a:xfrm>
            <a:off x="5186999" y="3794760"/>
            <a:ext cx="3454081" cy="411480"/>
          </a:xfrm>
          <a:prstGeom prst="rect">
            <a:avLst/>
          </a:prstGeom>
          <a:noFill/>
          <a:ln/>
        </p:spPr>
        <p:txBody>
          <a:bodyPr wrap="square" lIns="0" tIns="0" rIns="0" bIns="0" rtlCol="0" anchor="ctr"/>
          <a:lstStyle/>
          <a:p>
            <a:pPr indent="0" marL="0">
              <a:buNone/>
            </a:pPr>
            <a:r>
              <a:rPr lang="en-US" sz="2000" b="1" dirty="0">
                <a:solidFill>
                  <a:srgbClr val="00703A"/>
                </a:solidFill>
                <a:latin typeface="Malgun Gothic" pitchFamily="34" charset="0"/>
                <a:ea typeface="Malgun Gothic" pitchFamily="34" charset="-122"/>
                <a:cs typeface="Malgun Gothic" pitchFamily="34" charset="-120"/>
              </a:rPr>
              <a:t>2015.01 ~ 2023.08</a:t>
            </a:r>
            <a:endParaRPr lang="en-US" sz="2000" dirty="0"/>
          </a:p>
        </p:txBody>
      </p:sp>
      <p:sp>
        <p:nvSpPr>
          <p:cNvPr id="14" name="Text 10"/>
          <p:cNvSpPr txBox="1"/>
          <p:nvPr/>
        </p:nvSpPr>
        <p:spPr>
          <a:xfrm>
            <a:off x="5186999" y="4206240"/>
            <a:ext cx="3454081" cy="256032"/>
          </a:xfrm>
          <a:prstGeom prst="rect">
            <a:avLst/>
          </a:prstGeom>
          <a:noFill/>
          <a:ln/>
        </p:spPr>
        <p:txBody>
          <a:bodyPr wrap="square" lIns="0" tIns="0" rIns="0" bIns="0" rtlCol="0" anchor="ctr"/>
          <a:lstStyle/>
          <a:p>
            <a:pPr indent="0" marL="0">
              <a:buNone/>
            </a:pPr>
            <a:r>
              <a:rPr lang="en-US" sz="1050" dirty="0">
                <a:solidFill>
                  <a:srgbClr val="5E6B63"/>
                </a:solidFill>
                <a:latin typeface="Malgun Gothic" pitchFamily="34" charset="0"/>
                <a:ea typeface="Malgun Gothic" pitchFamily="34" charset="-122"/>
                <a:cs typeface="Malgun Gothic" pitchFamily="34" charset="-120"/>
              </a:rPr>
              <a:t>분석 기간</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03  데이터 수집</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노선별 승차 패턴</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08 / 13</a:t>
            </a:r>
            <a:endParaRPr lang="en-US" sz="900" dirty="0"/>
          </a:p>
        </p:txBody>
      </p:sp>
      <p:sp>
        <p:nvSpPr>
          <p:cNvPr id="7" name="Shape 5"/>
          <p:cNvSpPr/>
          <p:nvPr/>
        </p:nvSpPr>
        <p:spPr>
          <a:xfrm>
            <a:off x="502920" y="1371600"/>
            <a:ext cx="2606040" cy="1051560"/>
          </a:xfrm>
          <a:prstGeom prst="rect">
            <a:avLst/>
          </a:prstGeom>
          <a:solidFill>
            <a:srgbClr val="F5F8F6"/>
          </a:solidFill>
          <a:ln w="12700">
            <a:solidFill>
              <a:srgbClr val="F5F8F6"/>
            </a:solidFill>
            <a:prstDash val="solid"/>
          </a:ln>
        </p:spPr>
      </p:sp>
      <p:sp>
        <p:nvSpPr>
          <p:cNvPr id="8" name="Shape 6"/>
          <p:cNvSpPr/>
          <p:nvPr/>
        </p:nvSpPr>
        <p:spPr>
          <a:xfrm>
            <a:off x="612648" y="1481328"/>
            <a:ext cx="274320" cy="274320"/>
          </a:xfrm>
          <a:prstGeom prst="ellipse">
            <a:avLst/>
          </a:prstGeom>
          <a:solidFill>
            <a:srgbClr val="0052A4"/>
          </a:solidFill>
          <a:ln w="12700">
            <a:solidFill>
              <a:srgbClr val="0052A4"/>
            </a:solidFill>
            <a:prstDash val="solid"/>
          </a:ln>
        </p:spPr>
      </p:sp>
      <p:sp>
        <p:nvSpPr>
          <p:cNvPr id="9" name="Text 7"/>
          <p:cNvSpPr txBox="1"/>
          <p:nvPr/>
        </p:nvSpPr>
        <p:spPr>
          <a:xfrm>
            <a:off x="612648" y="14813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1</a:t>
            </a:r>
            <a:endParaRPr lang="en-US" sz="1000" dirty="0"/>
          </a:p>
        </p:txBody>
      </p:sp>
      <p:sp>
        <p:nvSpPr>
          <p:cNvPr id="10" name="Text 8"/>
          <p:cNvSpPr txBox="1"/>
          <p:nvPr/>
        </p:nvSpPr>
        <p:spPr>
          <a:xfrm>
            <a:off x="960120" y="1472184"/>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1호선</a:t>
            </a:r>
            <a:endParaRPr lang="en-US" sz="1200" dirty="0"/>
          </a:p>
        </p:txBody>
      </p:sp>
      <p:sp>
        <p:nvSpPr>
          <p:cNvPr id="11" name="Text 9"/>
          <p:cNvSpPr txBox="1"/>
          <p:nvPr/>
        </p:nvSpPr>
        <p:spPr>
          <a:xfrm>
            <a:off x="612648" y="1828800"/>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유동인구가 많은 서울역에서 대체로 승차 인원이 많고, 출근 시간에는 청량리, 퇴근 시간부터는 종각에서 승차가 많아집니다.</a:t>
            </a:r>
            <a:endParaRPr lang="en-US" sz="980" dirty="0"/>
          </a:p>
        </p:txBody>
      </p:sp>
      <p:sp>
        <p:nvSpPr>
          <p:cNvPr id="12" name="Shape 10"/>
          <p:cNvSpPr/>
          <p:nvPr/>
        </p:nvSpPr>
        <p:spPr>
          <a:xfrm>
            <a:off x="3268980" y="1371600"/>
            <a:ext cx="2606040" cy="1051560"/>
          </a:xfrm>
          <a:prstGeom prst="rect">
            <a:avLst/>
          </a:prstGeom>
          <a:solidFill>
            <a:srgbClr val="F5F8F6"/>
          </a:solidFill>
          <a:ln w="12700">
            <a:solidFill>
              <a:srgbClr val="F5F8F6"/>
            </a:solidFill>
            <a:prstDash val="solid"/>
          </a:ln>
        </p:spPr>
      </p:sp>
      <p:sp>
        <p:nvSpPr>
          <p:cNvPr id="13" name="Shape 11"/>
          <p:cNvSpPr/>
          <p:nvPr/>
        </p:nvSpPr>
        <p:spPr>
          <a:xfrm>
            <a:off x="3378708" y="1481328"/>
            <a:ext cx="274320" cy="274320"/>
          </a:xfrm>
          <a:prstGeom prst="ellipse">
            <a:avLst/>
          </a:prstGeom>
          <a:solidFill>
            <a:srgbClr val="00A84D"/>
          </a:solidFill>
          <a:ln w="12700">
            <a:solidFill>
              <a:srgbClr val="00A84D"/>
            </a:solidFill>
            <a:prstDash val="solid"/>
          </a:ln>
        </p:spPr>
      </p:sp>
      <p:sp>
        <p:nvSpPr>
          <p:cNvPr id="14" name="Text 12"/>
          <p:cNvSpPr txBox="1"/>
          <p:nvPr/>
        </p:nvSpPr>
        <p:spPr>
          <a:xfrm>
            <a:off x="3378708" y="14813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2</a:t>
            </a:r>
            <a:endParaRPr lang="en-US" sz="1000" dirty="0"/>
          </a:p>
        </p:txBody>
      </p:sp>
      <p:sp>
        <p:nvSpPr>
          <p:cNvPr id="15" name="Text 13"/>
          <p:cNvSpPr txBox="1"/>
          <p:nvPr/>
        </p:nvSpPr>
        <p:spPr>
          <a:xfrm>
            <a:off x="3726180" y="1472184"/>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2호선</a:t>
            </a:r>
            <a:endParaRPr lang="en-US" sz="1200" dirty="0"/>
          </a:p>
        </p:txBody>
      </p:sp>
      <p:sp>
        <p:nvSpPr>
          <p:cNvPr id="16" name="Text 14"/>
          <p:cNvSpPr txBox="1"/>
          <p:nvPr/>
        </p:nvSpPr>
        <p:spPr>
          <a:xfrm>
            <a:off x="3378708" y="1828800"/>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신림이 가장 많고, 12시부터는 강남에서 승차하는 인원이 많습니다.</a:t>
            </a:r>
            <a:endParaRPr lang="en-US" sz="980" dirty="0"/>
          </a:p>
        </p:txBody>
      </p:sp>
      <p:sp>
        <p:nvSpPr>
          <p:cNvPr id="17" name="Shape 15"/>
          <p:cNvSpPr/>
          <p:nvPr/>
        </p:nvSpPr>
        <p:spPr>
          <a:xfrm>
            <a:off x="6035040" y="1371600"/>
            <a:ext cx="2606040" cy="1051560"/>
          </a:xfrm>
          <a:prstGeom prst="rect">
            <a:avLst/>
          </a:prstGeom>
          <a:solidFill>
            <a:srgbClr val="F5F8F6"/>
          </a:solidFill>
          <a:ln w="12700">
            <a:solidFill>
              <a:srgbClr val="F5F8F6"/>
            </a:solidFill>
            <a:prstDash val="solid"/>
          </a:ln>
        </p:spPr>
      </p:sp>
      <p:sp>
        <p:nvSpPr>
          <p:cNvPr id="18" name="Shape 16"/>
          <p:cNvSpPr/>
          <p:nvPr/>
        </p:nvSpPr>
        <p:spPr>
          <a:xfrm>
            <a:off x="6144768" y="1481328"/>
            <a:ext cx="274320" cy="274320"/>
          </a:xfrm>
          <a:prstGeom prst="ellipse">
            <a:avLst/>
          </a:prstGeom>
          <a:solidFill>
            <a:srgbClr val="EF7C1C"/>
          </a:solidFill>
          <a:ln w="12700">
            <a:solidFill>
              <a:srgbClr val="EF7C1C"/>
            </a:solidFill>
            <a:prstDash val="solid"/>
          </a:ln>
        </p:spPr>
      </p:sp>
      <p:sp>
        <p:nvSpPr>
          <p:cNvPr id="19" name="Text 17"/>
          <p:cNvSpPr txBox="1"/>
          <p:nvPr/>
        </p:nvSpPr>
        <p:spPr>
          <a:xfrm>
            <a:off x="6144768" y="14813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3</a:t>
            </a:r>
            <a:endParaRPr lang="en-US" sz="1000" dirty="0"/>
          </a:p>
        </p:txBody>
      </p:sp>
      <p:sp>
        <p:nvSpPr>
          <p:cNvPr id="20" name="Text 18"/>
          <p:cNvSpPr txBox="1"/>
          <p:nvPr/>
        </p:nvSpPr>
        <p:spPr>
          <a:xfrm>
            <a:off x="6492240" y="1472184"/>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3호선</a:t>
            </a:r>
            <a:endParaRPr lang="en-US" sz="1200" dirty="0"/>
          </a:p>
        </p:txBody>
      </p:sp>
      <p:sp>
        <p:nvSpPr>
          <p:cNvPr id="21" name="Text 19"/>
          <p:cNvSpPr txBox="1"/>
          <p:nvPr/>
        </p:nvSpPr>
        <p:spPr>
          <a:xfrm>
            <a:off x="6144768" y="1828800"/>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시간부터 12시까지 연신내에서 타는 사람이 많고, 11시부터 고속터미널에서 승차가 많습니다.</a:t>
            </a:r>
            <a:endParaRPr lang="en-US" sz="980" dirty="0"/>
          </a:p>
        </p:txBody>
      </p:sp>
      <p:sp>
        <p:nvSpPr>
          <p:cNvPr id="22" name="Shape 20"/>
          <p:cNvSpPr/>
          <p:nvPr/>
        </p:nvSpPr>
        <p:spPr>
          <a:xfrm>
            <a:off x="502920" y="2542032"/>
            <a:ext cx="2606040" cy="1051560"/>
          </a:xfrm>
          <a:prstGeom prst="rect">
            <a:avLst/>
          </a:prstGeom>
          <a:solidFill>
            <a:srgbClr val="F5F8F6"/>
          </a:solidFill>
          <a:ln w="12700">
            <a:solidFill>
              <a:srgbClr val="F5F8F6"/>
            </a:solidFill>
            <a:prstDash val="solid"/>
          </a:ln>
        </p:spPr>
      </p:sp>
      <p:sp>
        <p:nvSpPr>
          <p:cNvPr id="23" name="Shape 21"/>
          <p:cNvSpPr/>
          <p:nvPr/>
        </p:nvSpPr>
        <p:spPr>
          <a:xfrm>
            <a:off x="612648" y="2651760"/>
            <a:ext cx="274320" cy="274320"/>
          </a:xfrm>
          <a:prstGeom prst="ellipse">
            <a:avLst/>
          </a:prstGeom>
          <a:solidFill>
            <a:srgbClr val="00A5DE"/>
          </a:solidFill>
          <a:ln w="12700">
            <a:solidFill>
              <a:srgbClr val="00A5DE"/>
            </a:solidFill>
            <a:prstDash val="solid"/>
          </a:ln>
        </p:spPr>
      </p:sp>
      <p:sp>
        <p:nvSpPr>
          <p:cNvPr id="24" name="Text 22"/>
          <p:cNvSpPr txBox="1"/>
          <p:nvPr/>
        </p:nvSpPr>
        <p:spPr>
          <a:xfrm>
            <a:off x="612648" y="26517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4</a:t>
            </a:r>
            <a:endParaRPr lang="en-US" sz="1000" dirty="0"/>
          </a:p>
        </p:txBody>
      </p:sp>
      <p:sp>
        <p:nvSpPr>
          <p:cNvPr id="25" name="Text 23"/>
          <p:cNvSpPr txBox="1"/>
          <p:nvPr/>
        </p:nvSpPr>
        <p:spPr>
          <a:xfrm>
            <a:off x="960120" y="2642616"/>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4호선</a:t>
            </a:r>
            <a:endParaRPr lang="en-US" sz="1200" dirty="0"/>
          </a:p>
        </p:txBody>
      </p:sp>
      <p:sp>
        <p:nvSpPr>
          <p:cNvPr id="26" name="Text 24"/>
          <p:cNvSpPr txBox="1"/>
          <p:nvPr/>
        </p:nvSpPr>
        <p:spPr>
          <a:xfrm>
            <a:off x="612648" y="2999232"/>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쌍문·수유가 대체로 많고, 14시부터 혜화에서 승차하는 인원이 증가합니다.</a:t>
            </a:r>
            <a:endParaRPr lang="en-US" sz="980" dirty="0"/>
          </a:p>
        </p:txBody>
      </p:sp>
      <p:sp>
        <p:nvSpPr>
          <p:cNvPr id="27" name="Shape 25"/>
          <p:cNvSpPr/>
          <p:nvPr/>
        </p:nvSpPr>
        <p:spPr>
          <a:xfrm>
            <a:off x="3268980" y="2542032"/>
            <a:ext cx="2606040" cy="1051560"/>
          </a:xfrm>
          <a:prstGeom prst="rect">
            <a:avLst/>
          </a:prstGeom>
          <a:solidFill>
            <a:srgbClr val="F5F8F6"/>
          </a:solidFill>
          <a:ln w="12700">
            <a:solidFill>
              <a:srgbClr val="F5F8F6"/>
            </a:solidFill>
            <a:prstDash val="solid"/>
          </a:ln>
        </p:spPr>
      </p:sp>
      <p:sp>
        <p:nvSpPr>
          <p:cNvPr id="28" name="Shape 26"/>
          <p:cNvSpPr/>
          <p:nvPr/>
        </p:nvSpPr>
        <p:spPr>
          <a:xfrm>
            <a:off x="3378708" y="2651760"/>
            <a:ext cx="274320" cy="274320"/>
          </a:xfrm>
          <a:prstGeom prst="ellipse">
            <a:avLst/>
          </a:prstGeom>
          <a:solidFill>
            <a:srgbClr val="996CAC"/>
          </a:solidFill>
          <a:ln w="12700">
            <a:solidFill>
              <a:srgbClr val="996CAC"/>
            </a:solidFill>
            <a:prstDash val="solid"/>
          </a:ln>
        </p:spPr>
      </p:sp>
      <p:sp>
        <p:nvSpPr>
          <p:cNvPr id="29" name="Text 27"/>
          <p:cNvSpPr txBox="1"/>
          <p:nvPr/>
        </p:nvSpPr>
        <p:spPr>
          <a:xfrm>
            <a:off x="3378708" y="26517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5</a:t>
            </a:r>
            <a:endParaRPr lang="en-US" sz="1000" dirty="0"/>
          </a:p>
        </p:txBody>
      </p:sp>
      <p:sp>
        <p:nvSpPr>
          <p:cNvPr id="30" name="Text 28"/>
          <p:cNvSpPr txBox="1"/>
          <p:nvPr/>
        </p:nvSpPr>
        <p:spPr>
          <a:xfrm>
            <a:off x="3726180" y="2642616"/>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5호선</a:t>
            </a:r>
            <a:endParaRPr lang="en-US" sz="1200" dirty="0"/>
          </a:p>
        </p:txBody>
      </p:sp>
      <p:sp>
        <p:nvSpPr>
          <p:cNvPr id="31" name="Text 29"/>
          <p:cNvSpPr txBox="1"/>
          <p:nvPr/>
        </p:nvSpPr>
        <p:spPr>
          <a:xfrm>
            <a:off x="3378708" y="2999232"/>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까치산·화곡에서 타는 사람이 많고, 14시부터는 광화문에서 승차가 많습니다.</a:t>
            </a:r>
            <a:endParaRPr lang="en-US" sz="980" dirty="0"/>
          </a:p>
        </p:txBody>
      </p:sp>
      <p:sp>
        <p:nvSpPr>
          <p:cNvPr id="32" name="Shape 30"/>
          <p:cNvSpPr/>
          <p:nvPr/>
        </p:nvSpPr>
        <p:spPr>
          <a:xfrm>
            <a:off x="6035040" y="2542032"/>
            <a:ext cx="2606040" cy="1051560"/>
          </a:xfrm>
          <a:prstGeom prst="rect">
            <a:avLst/>
          </a:prstGeom>
          <a:solidFill>
            <a:srgbClr val="F5F8F6"/>
          </a:solidFill>
          <a:ln w="12700">
            <a:solidFill>
              <a:srgbClr val="F5F8F6"/>
            </a:solidFill>
            <a:prstDash val="solid"/>
          </a:ln>
        </p:spPr>
      </p:sp>
      <p:sp>
        <p:nvSpPr>
          <p:cNvPr id="33" name="Shape 31"/>
          <p:cNvSpPr/>
          <p:nvPr/>
        </p:nvSpPr>
        <p:spPr>
          <a:xfrm>
            <a:off x="6144768" y="2651760"/>
            <a:ext cx="274320" cy="274320"/>
          </a:xfrm>
          <a:prstGeom prst="ellipse">
            <a:avLst/>
          </a:prstGeom>
          <a:solidFill>
            <a:srgbClr val="CD7C2F"/>
          </a:solidFill>
          <a:ln w="12700">
            <a:solidFill>
              <a:srgbClr val="CD7C2F"/>
            </a:solidFill>
            <a:prstDash val="solid"/>
          </a:ln>
        </p:spPr>
      </p:sp>
      <p:sp>
        <p:nvSpPr>
          <p:cNvPr id="34" name="Text 32"/>
          <p:cNvSpPr txBox="1"/>
          <p:nvPr/>
        </p:nvSpPr>
        <p:spPr>
          <a:xfrm>
            <a:off x="6144768" y="26517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6</a:t>
            </a:r>
            <a:endParaRPr lang="en-US" sz="1000" dirty="0"/>
          </a:p>
        </p:txBody>
      </p:sp>
      <p:sp>
        <p:nvSpPr>
          <p:cNvPr id="35" name="Text 33"/>
          <p:cNvSpPr txBox="1"/>
          <p:nvPr/>
        </p:nvSpPr>
        <p:spPr>
          <a:xfrm>
            <a:off x="6492240" y="2642616"/>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6호선</a:t>
            </a:r>
            <a:endParaRPr lang="en-US" sz="1200" dirty="0"/>
          </a:p>
        </p:txBody>
      </p:sp>
      <p:sp>
        <p:nvSpPr>
          <p:cNvPr id="36" name="Text 34"/>
          <p:cNvSpPr txBox="1"/>
          <p:nvPr/>
        </p:nvSpPr>
        <p:spPr>
          <a:xfrm>
            <a:off x="6144768" y="2999232"/>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응암이 가장 많고, 14~21시는 공덕, 20시부터는 합정이 가장 많습니다.</a:t>
            </a:r>
            <a:endParaRPr lang="en-US" sz="980" dirty="0"/>
          </a:p>
        </p:txBody>
      </p:sp>
      <p:sp>
        <p:nvSpPr>
          <p:cNvPr id="37" name="Shape 35"/>
          <p:cNvSpPr/>
          <p:nvPr/>
        </p:nvSpPr>
        <p:spPr>
          <a:xfrm>
            <a:off x="502920" y="3712464"/>
            <a:ext cx="2606040" cy="1051560"/>
          </a:xfrm>
          <a:prstGeom prst="rect">
            <a:avLst/>
          </a:prstGeom>
          <a:solidFill>
            <a:srgbClr val="F5F8F6"/>
          </a:solidFill>
          <a:ln w="12700">
            <a:solidFill>
              <a:srgbClr val="F5F8F6"/>
            </a:solidFill>
            <a:prstDash val="solid"/>
          </a:ln>
        </p:spPr>
      </p:sp>
      <p:sp>
        <p:nvSpPr>
          <p:cNvPr id="38" name="Shape 36"/>
          <p:cNvSpPr/>
          <p:nvPr/>
        </p:nvSpPr>
        <p:spPr>
          <a:xfrm>
            <a:off x="612648" y="3822192"/>
            <a:ext cx="274320" cy="274320"/>
          </a:xfrm>
          <a:prstGeom prst="ellipse">
            <a:avLst/>
          </a:prstGeom>
          <a:solidFill>
            <a:srgbClr val="747F00"/>
          </a:solidFill>
          <a:ln w="12700">
            <a:solidFill>
              <a:srgbClr val="747F00"/>
            </a:solidFill>
            <a:prstDash val="solid"/>
          </a:ln>
        </p:spPr>
      </p:sp>
      <p:sp>
        <p:nvSpPr>
          <p:cNvPr id="39" name="Text 37"/>
          <p:cNvSpPr txBox="1"/>
          <p:nvPr/>
        </p:nvSpPr>
        <p:spPr>
          <a:xfrm>
            <a:off x="612648" y="38221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7</a:t>
            </a:r>
            <a:endParaRPr lang="en-US" sz="1000" dirty="0"/>
          </a:p>
        </p:txBody>
      </p:sp>
      <p:sp>
        <p:nvSpPr>
          <p:cNvPr id="40" name="Text 38"/>
          <p:cNvSpPr txBox="1"/>
          <p:nvPr/>
        </p:nvSpPr>
        <p:spPr>
          <a:xfrm>
            <a:off x="960120" y="3813048"/>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7호선</a:t>
            </a:r>
            <a:endParaRPr lang="en-US" sz="1200" dirty="0"/>
          </a:p>
        </p:txBody>
      </p:sp>
      <p:sp>
        <p:nvSpPr>
          <p:cNvPr id="41" name="Text 39"/>
          <p:cNvSpPr txBox="1"/>
          <p:nvPr/>
        </p:nvSpPr>
        <p:spPr>
          <a:xfrm>
            <a:off x="612648" y="4169664"/>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광명사거리가 많고, 13시부터 가산디지털단지가 많습니다.</a:t>
            </a:r>
            <a:endParaRPr lang="en-US" sz="980" dirty="0"/>
          </a:p>
        </p:txBody>
      </p:sp>
      <p:sp>
        <p:nvSpPr>
          <p:cNvPr id="42" name="Shape 40"/>
          <p:cNvSpPr/>
          <p:nvPr/>
        </p:nvSpPr>
        <p:spPr>
          <a:xfrm>
            <a:off x="3268980" y="3712464"/>
            <a:ext cx="2606040" cy="1051560"/>
          </a:xfrm>
          <a:prstGeom prst="rect">
            <a:avLst/>
          </a:prstGeom>
          <a:solidFill>
            <a:srgbClr val="F5F8F6"/>
          </a:solidFill>
          <a:ln w="12700">
            <a:solidFill>
              <a:srgbClr val="F5F8F6"/>
            </a:solidFill>
            <a:prstDash val="solid"/>
          </a:ln>
        </p:spPr>
      </p:sp>
      <p:sp>
        <p:nvSpPr>
          <p:cNvPr id="43" name="Shape 41"/>
          <p:cNvSpPr/>
          <p:nvPr/>
        </p:nvSpPr>
        <p:spPr>
          <a:xfrm>
            <a:off x="3378708" y="3822192"/>
            <a:ext cx="274320" cy="274320"/>
          </a:xfrm>
          <a:prstGeom prst="ellipse">
            <a:avLst/>
          </a:prstGeom>
          <a:solidFill>
            <a:srgbClr val="E6186C"/>
          </a:solidFill>
          <a:ln w="12700">
            <a:solidFill>
              <a:srgbClr val="E6186C"/>
            </a:solidFill>
            <a:prstDash val="solid"/>
          </a:ln>
        </p:spPr>
      </p:sp>
      <p:sp>
        <p:nvSpPr>
          <p:cNvPr id="44" name="Text 42"/>
          <p:cNvSpPr txBox="1"/>
          <p:nvPr/>
        </p:nvSpPr>
        <p:spPr>
          <a:xfrm>
            <a:off x="3378708" y="38221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8</a:t>
            </a:r>
            <a:endParaRPr lang="en-US" sz="1000" dirty="0"/>
          </a:p>
        </p:txBody>
      </p:sp>
      <p:sp>
        <p:nvSpPr>
          <p:cNvPr id="45" name="Text 43"/>
          <p:cNvSpPr txBox="1"/>
          <p:nvPr/>
        </p:nvSpPr>
        <p:spPr>
          <a:xfrm>
            <a:off x="3726180" y="3813048"/>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8호선</a:t>
            </a:r>
            <a:endParaRPr lang="en-US" sz="1200" dirty="0"/>
          </a:p>
        </p:txBody>
      </p:sp>
      <p:sp>
        <p:nvSpPr>
          <p:cNvPr id="46" name="Text 44"/>
          <p:cNvSpPr txBox="1"/>
          <p:nvPr/>
        </p:nvSpPr>
        <p:spPr>
          <a:xfrm>
            <a:off x="3378708" y="4169664"/>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암사, 14~20시는 문정, 20시 이후는 잠실에서 승차하는 인원이 많습니다.</a:t>
            </a:r>
            <a:endParaRPr lang="en-US" sz="980" dirty="0"/>
          </a:p>
        </p:txBody>
      </p:sp>
      <p:sp>
        <p:nvSpPr>
          <p:cNvPr id="47" name="Shape 45"/>
          <p:cNvSpPr/>
          <p:nvPr/>
        </p:nvSpPr>
        <p:spPr>
          <a:xfrm>
            <a:off x="6035040" y="3712464"/>
            <a:ext cx="2606040" cy="1051560"/>
          </a:xfrm>
          <a:prstGeom prst="rect">
            <a:avLst/>
          </a:prstGeom>
          <a:solidFill>
            <a:srgbClr val="F5F8F6"/>
          </a:solidFill>
          <a:ln w="12700">
            <a:solidFill>
              <a:srgbClr val="F5F8F6"/>
            </a:solidFill>
            <a:prstDash val="solid"/>
          </a:ln>
        </p:spPr>
      </p:sp>
      <p:sp>
        <p:nvSpPr>
          <p:cNvPr id="48" name="Shape 46"/>
          <p:cNvSpPr/>
          <p:nvPr/>
        </p:nvSpPr>
        <p:spPr>
          <a:xfrm>
            <a:off x="6144768" y="3822192"/>
            <a:ext cx="274320" cy="274320"/>
          </a:xfrm>
          <a:prstGeom prst="ellipse">
            <a:avLst/>
          </a:prstGeom>
          <a:solidFill>
            <a:srgbClr val="BDB092"/>
          </a:solidFill>
          <a:ln w="12700">
            <a:solidFill>
              <a:srgbClr val="BDB092"/>
            </a:solidFill>
            <a:prstDash val="solid"/>
          </a:ln>
        </p:spPr>
      </p:sp>
      <p:sp>
        <p:nvSpPr>
          <p:cNvPr id="49" name="Text 47"/>
          <p:cNvSpPr txBox="1"/>
          <p:nvPr/>
        </p:nvSpPr>
        <p:spPr>
          <a:xfrm>
            <a:off x="6144768" y="38221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9</a:t>
            </a:r>
            <a:endParaRPr lang="en-US" sz="1000" dirty="0"/>
          </a:p>
        </p:txBody>
      </p:sp>
      <p:sp>
        <p:nvSpPr>
          <p:cNvPr id="50" name="Text 48"/>
          <p:cNvSpPr txBox="1"/>
          <p:nvPr/>
        </p:nvSpPr>
        <p:spPr>
          <a:xfrm>
            <a:off x="6492240" y="3813048"/>
            <a:ext cx="1371600" cy="292608"/>
          </a:xfrm>
          <a:prstGeom prst="rect">
            <a:avLst/>
          </a:prstGeom>
          <a:noFill/>
          <a:ln/>
        </p:spPr>
        <p:txBody>
          <a:bodyPr wrap="square" lIns="0" tIns="0" rIns="0" bIns="0" rtlCol="0" anchor="ctr"/>
          <a:lstStyle/>
          <a:p>
            <a:pPr indent="0" marL="0">
              <a:buNone/>
            </a:pPr>
            <a:r>
              <a:rPr lang="en-US" sz="1200" b="1" dirty="0">
                <a:solidFill>
                  <a:srgbClr val="1E2B23"/>
                </a:solidFill>
                <a:latin typeface="Malgun Gothic" pitchFamily="34" charset="0"/>
                <a:ea typeface="Malgun Gothic" pitchFamily="34" charset="-122"/>
                <a:cs typeface="Malgun Gothic" pitchFamily="34" charset="-120"/>
              </a:rPr>
              <a:t>9호선</a:t>
            </a:r>
            <a:endParaRPr lang="en-US" sz="1200" dirty="0"/>
          </a:p>
        </p:txBody>
      </p:sp>
      <p:sp>
        <p:nvSpPr>
          <p:cNvPr id="51" name="Text 49"/>
          <p:cNvSpPr txBox="1"/>
          <p:nvPr/>
        </p:nvSpPr>
        <p:spPr>
          <a:xfrm>
            <a:off x="6144768" y="4169664"/>
            <a:ext cx="2386584" cy="548640"/>
          </a:xfrm>
          <a:prstGeom prst="rect">
            <a:avLst/>
          </a:prstGeom>
          <a:noFill/>
          <a:ln/>
        </p:spPr>
        <p:txBody>
          <a:bodyPr wrap="square" lIns="0" tIns="0" rIns="0" bIns="0" rtlCol="0" anchor="t"/>
          <a:lstStyle/>
          <a:p>
            <a:pPr indent="0" marL="0">
              <a:lnSpc>
                <a:spcPct val="110000"/>
              </a:lnSpc>
              <a:buNone/>
            </a:pPr>
            <a:r>
              <a:rPr lang="en-US" sz="980" dirty="0">
                <a:solidFill>
                  <a:srgbClr val="1E2B23"/>
                </a:solidFill>
                <a:latin typeface="Malgun Gothic" pitchFamily="34" charset="0"/>
                <a:ea typeface="Malgun Gothic" pitchFamily="34" charset="-122"/>
                <a:cs typeface="Malgun Gothic" pitchFamily="34" charset="-120"/>
              </a:rPr>
              <a:t>출근 시간에는 가양·노량진이 많고, 11시부터는 대체로 신논현에서 승차가 많았습니다.</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03  데이터 수집</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시간대별 승차 인원 그라데이션 표</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09 / 13</a:t>
            </a:r>
            <a:endParaRPr lang="en-US" sz="900" dirty="0"/>
          </a:p>
        </p:txBody>
      </p:sp>
      <p:sp>
        <p:nvSpPr>
          <p:cNvPr id="8" name="Shape 5"/>
          <p:cNvSpPr/>
          <p:nvPr/>
        </p:nvSpPr>
        <p:spPr>
          <a:xfrm>
            <a:off x="466344" y="1472184"/>
            <a:ext cx="8211312" cy="2169495"/>
          </a:xfrm>
          <a:prstGeom prst="rect">
            <a:avLst/>
          </a:prstGeom>
          <a:solidFill>
            <a:srgbClr val="FFFFFF"/>
          </a:solidFill>
          <a:ln w="12700">
            <a:solidFill>
              <a:srgbClr val="D5E3DA"/>
            </a:solidFill>
            <a:prstDash val="solid"/>
          </a:ln>
        </p:spPr>
      </p:sp>
      <p:pic>
        <p:nvPicPr>
          <p:cNvPr id="9" name="Image 0" descr="/home/claude/w/img/line_table.png">    </p:cNvPr>
          <p:cNvPicPr>
            <a:picLocks noChangeAspect="1"/>
          </p:cNvPicPr>
          <p:nvPr/>
        </p:nvPicPr>
        <p:blipFill>
          <a:blip r:embed="rId1"/>
          <a:stretch>
            <a:fillRect/>
          </a:stretch>
        </p:blipFill>
        <p:spPr>
          <a:xfrm>
            <a:off x="502920" y="1508760"/>
            <a:ext cx="8138160" cy="2096343"/>
          </a:xfrm>
          <a:prstGeom prst="rect">
            <a:avLst/>
          </a:prstGeom>
        </p:spPr>
      </p:pic>
      <p:sp>
        <p:nvSpPr>
          <p:cNvPr id="10" name="Text 6"/>
          <p:cNvSpPr txBox="1"/>
          <p:nvPr/>
        </p:nvSpPr>
        <p:spPr>
          <a:xfrm>
            <a:off x="502920" y="3925143"/>
            <a:ext cx="8138160" cy="731520"/>
          </a:xfrm>
          <a:prstGeom prst="rect">
            <a:avLst/>
          </a:prstGeom>
          <a:noFill/>
          <a:ln/>
        </p:spPr>
        <p:txBody>
          <a:bodyPr wrap="square" lIns="0" tIns="0" rIns="0" bIns="0" rtlCol="0" anchor="ctr"/>
          <a:lstStyle/>
          <a:p>
            <a:pPr indent="0" marL="0">
              <a:lnSpc>
                <a:spcPct val="130000"/>
              </a:lnSpc>
              <a:buNone/>
            </a:pPr>
            <a:r>
              <a:rPr lang="en-US" sz="1250" dirty="0">
                <a:solidFill>
                  <a:srgbClr val="1E2B23"/>
                </a:solidFill>
                <a:latin typeface="Malgun Gothic" pitchFamily="34" charset="0"/>
                <a:ea typeface="Malgun Gothic" pitchFamily="34" charset="-122"/>
                <a:cs typeface="Malgun Gothic" pitchFamily="34" charset="-120"/>
              </a:rPr>
              <a:t>역별·시간대별 승차 인원을 pandas 스타일링으로 그라데이션 처리해, 값이 큰 칸일수록 진하게 보이도록 했습니다. 앞 장의 노선별 패턴은 이 표에서 읽어낸 결과입니다.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03  데이터 수집</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지하철 역별 위도·경도 추출</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10 / 13</a:t>
            </a:r>
            <a:endParaRPr lang="en-US" sz="900" dirty="0"/>
          </a:p>
        </p:txBody>
      </p:sp>
      <p:sp>
        <p:nvSpPr>
          <p:cNvPr id="8" name="Shape 5"/>
          <p:cNvSpPr/>
          <p:nvPr/>
        </p:nvSpPr>
        <p:spPr>
          <a:xfrm>
            <a:off x="512064" y="1426464"/>
            <a:ext cx="3639312" cy="1977119"/>
          </a:xfrm>
          <a:prstGeom prst="rect">
            <a:avLst/>
          </a:prstGeom>
          <a:solidFill>
            <a:srgbClr val="FFFFFF"/>
          </a:solidFill>
          <a:ln w="12700">
            <a:solidFill>
              <a:srgbClr val="D5E3DA"/>
            </a:solidFill>
            <a:prstDash val="solid"/>
          </a:ln>
        </p:spPr>
      </p:sp>
      <p:pic>
        <p:nvPicPr>
          <p:cNvPr id="9" name="Image 0" descr="/home/claude/w/img/code_station.png">    </p:cNvPr>
          <p:cNvPicPr>
            <a:picLocks noChangeAspect="1"/>
          </p:cNvPicPr>
          <p:nvPr/>
        </p:nvPicPr>
        <p:blipFill>
          <a:blip r:embed="rId1"/>
          <a:stretch>
            <a:fillRect/>
          </a:stretch>
        </p:blipFill>
        <p:spPr>
          <a:xfrm>
            <a:off x="548640" y="1463040"/>
            <a:ext cx="3566160" cy="1903967"/>
          </a:xfrm>
          <a:prstGeom prst="rect">
            <a:avLst/>
          </a:prstGeom>
        </p:spPr>
      </p:pic>
      <p:sp>
        <p:nvSpPr>
          <p:cNvPr id="10" name="Shape 6"/>
          <p:cNvSpPr/>
          <p:nvPr/>
        </p:nvSpPr>
        <p:spPr>
          <a:xfrm>
            <a:off x="548640" y="3549887"/>
            <a:ext cx="1143000" cy="256032"/>
          </a:xfrm>
          <a:prstGeom prst="roundRect">
            <a:avLst>
              <a:gd name="adj" fmla="val 50000"/>
            </a:avLst>
          </a:prstGeom>
          <a:solidFill>
            <a:srgbClr val="00703A"/>
          </a:solidFill>
          <a:ln w="12700">
            <a:solidFill>
              <a:srgbClr val="00703A"/>
            </a:solidFill>
            <a:prstDash val="solid"/>
          </a:ln>
        </p:spPr>
      </p:sp>
      <p:sp>
        <p:nvSpPr>
          <p:cNvPr id="11" name="Text 7"/>
          <p:cNvSpPr txBox="1"/>
          <p:nvPr/>
        </p:nvSpPr>
        <p:spPr>
          <a:xfrm>
            <a:off x="548640" y="3549887"/>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folium</a:t>
            </a:r>
            <a:endParaRPr lang="en-US" sz="950" dirty="0"/>
          </a:p>
        </p:txBody>
      </p:sp>
      <p:sp>
        <p:nvSpPr>
          <p:cNvPr id="12" name="Text 8"/>
          <p:cNvSpPr txBox="1"/>
          <p:nvPr/>
        </p:nvSpPr>
        <p:spPr>
          <a:xfrm>
            <a:off x="548640" y="3915647"/>
            <a:ext cx="3566160" cy="685800"/>
          </a:xfrm>
          <a:prstGeom prst="rect">
            <a:avLst/>
          </a:prstGeom>
          <a:noFill/>
          <a:ln/>
        </p:spPr>
        <p:txBody>
          <a:bodyPr wrap="square" lIns="0" tIns="0" rIns="0" bIns="0" rtlCol="0" anchor="ctr"/>
          <a:lstStyle/>
          <a:p>
            <a:pPr indent="0" marL="0">
              <a:lnSpc>
                <a:spcPct val="130000"/>
              </a:lnSpc>
              <a:buNone/>
            </a:pPr>
            <a:r>
              <a:rPr lang="en-US" sz="1200" dirty="0">
                <a:solidFill>
                  <a:srgbClr val="1E2B23"/>
                </a:solidFill>
                <a:latin typeface="Malgun Gothic" pitchFamily="34" charset="0"/>
                <a:ea typeface="Malgun Gothic" pitchFamily="34" charset="-122"/>
                <a:cs typeface="Malgun Gothic" pitchFamily="34" charset="-120"/>
              </a:rPr>
              <a:t>역마다 CircleMarker로 위치를 찍고, 역명을 팝업으로 확인할 수 있게 했습니다.</a:t>
            </a:r>
            <a:endParaRPr lang="en-US" sz="1200" dirty="0"/>
          </a:p>
        </p:txBody>
      </p:sp>
      <p:sp>
        <p:nvSpPr>
          <p:cNvPr id="13" name="Shape 9"/>
          <p:cNvSpPr/>
          <p:nvPr/>
        </p:nvSpPr>
        <p:spPr>
          <a:xfrm>
            <a:off x="4261104" y="1426464"/>
            <a:ext cx="4416552" cy="2547241"/>
          </a:xfrm>
          <a:prstGeom prst="rect">
            <a:avLst/>
          </a:prstGeom>
          <a:solidFill>
            <a:srgbClr val="FFFFFF"/>
          </a:solidFill>
          <a:ln w="12700">
            <a:solidFill>
              <a:srgbClr val="D5E3DA"/>
            </a:solidFill>
            <a:prstDash val="solid"/>
          </a:ln>
        </p:spPr>
      </p:sp>
      <p:pic>
        <p:nvPicPr>
          <p:cNvPr id="14" name="Image 1" descr="/home/claude/w/img/map_station.png">    </p:cNvPr>
          <p:cNvPicPr>
            <a:picLocks noChangeAspect="1"/>
          </p:cNvPicPr>
          <p:nvPr/>
        </p:nvPicPr>
        <p:blipFill>
          <a:blip r:embed="rId2"/>
          <a:stretch>
            <a:fillRect/>
          </a:stretch>
        </p:blipFill>
        <p:spPr>
          <a:xfrm>
            <a:off x="4297680" y="1463040"/>
            <a:ext cx="4343400" cy="2474089"/>
          </a:xfrm>
          <a:prstGeom prst="rect">
            <a:avLst/>
          </a:prstGeom>
        </p:spPr>
      </p:pic>
      <p:sp>
        <p:nvSpPr>
          <p:cNvPr id="15" name="Text 10"/>
          <p:cNvSpPr txBox="1"/>
          <p:nvPr/>
        </p:nvSpPr>
        <p:spPr>
          <a:xfrm>
            <a:off x="4297680" y="4028569"/>
            <a:ext cx="4343400" cy="274320"/>
          </a:xfrm>
          <a:prstGeom prst="rect">
            <a:avLst/>
          </a:prstGeom>
          <a:noFill/>
          <a:ln/>
        </p:spPr>
        <p:txBody>
          <a:bodyPr wrap="square" lIns="0" tIns="0" rIns="0" bIns="0" rtlCol="0" anchor="ctr"/>
          <a:lstStyle/>
          <a:p>
            <a:pPr indent="0" marL="0">
              <a:buNone/>
            </a:pPr>
            <a:r>
              <a:rPr lang="en-US" sz="1000" dirty="0">
                <a:solidFill>
                  <a:srgbClr val="5E6B63"/>
                </a:solidFill>
                <a:latin typeface="Malgun Gothic" pitchFamily="34" charset="0"/>
                <a:ea typeface="Malgun Gothic" pitchFamily="34" charset="-122"/>
                <a:cs typeface="Malgun Gothic" pitchFamily="34" charset="-120"/>
              </a:rPr>
              <a:t>서울 지하철 역 위치 (빨간 점)</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04  데이터 활용</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한강 중심으로 본 하차 인원 히트맵</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11 / 13</a:t>
            </a:r>
            <a:endParaRPr lang="en-US" sz="900" dirty="0"/>
          </a:p>
        </p:txBody>
      </p:sp>
      <p:sp>
        <p:nvSpPr>
          <p:cNvPr id="8" name="Shape 5"/>
          <p:cNvSpPr/>
          <p:nvPr/>
        </p:nvSpPr>
        <p:spPr>
          <a:xfrm>
            <a:off x="512064" y="1426464"/>
            <a:ext cx="3730752" cy="1337219"/>
          </a:xfrm>
          <a:prstGeom prst="rect">
            <a:avLst/>
          </a:prstGeom>
          <a:solidFill>
            <a:srgbClr val="FFFFFF"/>
          </a:solidFill>
          <a:ln w="12700">
            <a:solidFill>
              <a:srgbClr val="D5E3DA"/>
            </a:solidFill>
            <a:prstDash val="solid"/>
          </a:ln>
        </p:spPr>
      </p:sp>
      <p:pic>
        <p:nvPicPr>
          <p:cNvPr id="9" name="Image 0" descr="/home/claude/w/img/code_heatmap.png">    </p:cNvPr>
          <p:cNvPicPr>
            <a:picLocks noChangeAspect="1"/>
          </p:cNvPicPr>
          <p:nvPr/>
        </p:nvPicPr>
        <p:blipFill>
          <a:blip r:embed="rId1"/>
          <a:stretch>
            <a:fillRect/>
          </a:stretch>
        </p:blipFill>
        <p:spPr>
          <a:xfrm>
            <a:off x="548640" y="1463040"/>
            <a:ext cx="3657600" cy="1264067"/>
          </a:xfrm>
          <a:prstGeom prst="rect">
            <a:avLst/>
          </a:prstGeom>
        </p:spPr>
      </p:pic>
      <p:sp>
        <p:nvSpPr>
          <p:cNvPr id="10" name="Shape 6"/>
          <p:cNvSpPr/>
          <p:nvPr/>
        </p:nvSpPr>
        <p:spPr>
          <a:xfrm>
            <a:off x="548640" y="2909987"/>
            <a:ext cx="1143000" cy="256032"/>
          </a:xfrm>
          <a:prstGeom prst="roundRect">
            <a:avLst>
              <a:gd name="adj" fmla="val 50000"/>
            </a:avLst>
          </a:prstGeom>
          <a:solidFill>
            <a:srgbClr val="00703A"/>
          </a:solidFill>
          <a:ln w="12700">
            <a:solidFill>
              <a:srgbClr val="00703A"/>
            </a:solidFill>
            <a:prstDash val="solid"/>
          </a:ln>
        </p:spPr>
      </p:sp>
      <p:sp>
        <p:nvSpPr>
          <p:cNvPr id="11" name="Text 7"/>
          <p:cNvSpPr txBox="1"/>
          <p:nvPr/>
        </p:nvSpPr>
        <p:spPr>
          <a:xfrm>
            <a:off x="548640" y="2909987"/>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HeatMap</a:t>
            </a:r>
            <a:endParaRPr lang="en-US" sz="950" dirty="0"/>
          </a:p>
        </p:txBody>
      </p:sp>
      <p:sp>
        <p:nvSpPr>
          <p:cNvPr id="12" name="Text 8"/>
          <p:cNvSpPr txBox="1"/>
          <p:nvPr/>
        </p:nvSpPr>
        <p:spPr>
          <a:xfrm>
            <a:off x="548640" y="3275747"/>
            <a:ext cx="3383280" cy="822960"/>
          </a:xfrm>
          <a:prstGeom prst="rect">
            <a:avLst/>
          </a:prstGeom>
          <a:noFill/>
          <a:ln/>
        </p:spPr>
        <p:txBody>
          <a:bodyPr wrap="square" lIns="0" tIns="0" rIns="0" bIns="0" rtlCol="0" anchor="ctr"/>
          <a:lstStyle/>
          <a:p>
            <a:pPr indent="0" marL="0">
              <a:lnSpc>
                <a:spcPct val="130000"/>
              </a:lnSpc>
              <a:buNone/>
            </a:pPr>
            <a:r>
              <a:rPr lang="en-US" sz="1200" dirty="0">
                <a:solidFill>
                  <a:srgbClr val="1E2B23"/>
                </a:solidFill>
                <a:latin typeface="Malgun Gothic" pitchFamily="34" charset="0"/>
                <a:ea typeface="Malgun Gothic" pitchFamily="34" charset="-122"/>
                <a:cs typeface="Malgun Gothic" pitchFamily="34" charset="-120"/>
              </a:rPr>
              <a:t>역 좌표와 '18시-19시 하차인원' 컬럼을 HeatMap에 넣어, 퇴근길 하차가 몰리는 곳을 지도 위에서 확인했습니다.</a:t>
            </a:r>
            <a:endParaRPr lang="en-US" sz="1200" dirty="0"/>
          </a:p>
        </p:txBody>
      </p:sp>
      <p:sp>
        <p:nvSpPr>
          <p:cNvPr id="13" name="Shape 9"/>
          <p:cNvSpPr/>
          <p:nvPr/>
        </p:nvSpPr>
        <p:spPr>
          <a:xfrm>
            <a:off x="4322442" y="1426464"/>
            <a:ext cx="4355214" cy="2953512"/>
          </a:xfrm>
          <a:prstGeom prst="rect">
            <a:avLst/>
          </a:prstGeom>
          <a:solidFill>
            <a:srgbClr val="FFFFFF"/>
          </a:solidFill>
          <a:ln w="12700">
            <a:solidFill>
              <a:srgbClr val="D5E3DA"/>
            </a:solidFill>
            <a:prstDash val="solid"/>
          </a:ln>
        </p:spPr>
      </p:sp>
      <p:pic>
        <p:nvPicPr>
          <p:cNvPr id="14" name="Image 1" descr="/home/claude/w/img/heatmap.png">    </p:cNvPr>
          <p:cNvPicPr>
            <a:picLocks noChangeAspect="1"/>
          </p:cNvPicPr>
          <p:nvPr/>
        </p:nvPicPr>
        <p:blipFill>
          <a:blip r:embed="rId2"/>
          <a:stretch>
            <a:fillRect/>
          </a:stretch>
        </p:blipFill>
        <p:spPr>
          <a:xfrm>
            <a:off x="4359018" y="1463040"/>
            <a:ext cx="4282062" cy="2880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7744" cy="237744"/>
          </a:xfrm>
          <a:prstGeom prst="ellipse">
            <a:avLst/>
          </a:prstGeom>
          <a:solidFill>
            <a:srgbClr val="FFFFFF"/>
          </a:solidFill>
          <a:ln w="50800">
            <a:solidFill>
              <a:srgbClr val="00A84D"/>
            </a:solidFill>
            <a:prstDash val="solid"/>
          </a:ln>
        </p:spPr>
      </p:sp>
      <p:sp>
        <p:nvSpPr>
          <p:cNvPr id="3" name="Text 1"/>
          <p:cNvSpPr txBox="1"/>
          <p:nvPr/>
        </p:nvSpPr>
        <p:spPr>
          <a:xfrm>
            <a:off x="868680" y="347472"/>
            <a:ext cx="5486400" cy="310896"/>
          </a:xfrm>
          <a:prstGeom prst="rect">
            <a:avLst/>
          </a:prstGeom>
          <a:noFill/>
          <a:ln/>
        </p:spPr>
        <p:txBody>
          <a:bodyPr wrap="square" lIns="0" tIns="0" rIns="0" bIns="0" rtlCol="0" anchor="ctr"/>
          <a:lstStyle/>
          <a:p>
            <a:pPr indent="0" marL="0">
              <a:buNone/>
            </a:pPr>
            <a:r>
              <a:rPr lang="en-US" sz="1100" b="1" dirty="0">
                <a:solidFill>
                  <a:srgbClr val="00A84D"/>
                </a:solidFill>
                <a:latin typeface="Malgun Gothic" pitchFamily="34" charset="0"/>
                <a:ea typeface="Malgun Gothic" pitchFamily="34" charset="-122"/>
                <a:cs typeface="Malgun Gothic" pitchFamily="34" charset="-120"/>
              </a:rPr>
              <a:t>04  데이터 활용</a:t>
            </a:r>
            <a:endParaRPr lang="en-US" sz="1100" dirty="0"/>
          </a:p>
        </p:txBody>
      </p:sp>
      <p:sp>
        <p:nvSpPr>
          <p:cNvPr id="4" name="Text 2"/>
          <p:cNvSpPr txBox="1"/>
          <p:nvPr/>
        </p:nvSpPr>
        <p:spPr>
          <a:xfrm>
            <a:off x="502920" y="685800"/>
            <a:ext cx="8138160" cy="548640"/>
          </a:xfrm>
          <a:prstGeom prst="rect">
            <a:avLst/>
          </a:prstGeom>
          <a:noFill/>
          <a:ln/>
        </p:spPr>
        <p:txBody>
          <a:bodyPr wrap="square" lIns="0" tIns="0" rIns="0" bIns="0" rtlCol="0" anchor="ctr"/>
          <a:lstStyle/>
          <a:p>
            <a:pPr indent="0" marL="0">
              <a:buNone/>
            </a:pPr>
            <a:r>
              <a:rPr lang="en-US" sz="2400" b="1" dirty="0">
                <a:solidFill>
                  <a:srgbClr val="1E2B23"/>
                </a:solidFill>
                <a:latin typeface="Malgun Gothic" pitchFamily="34" charset="0"/>
                <a:ea typeface="Malgun Gothic" pitchFamily="34" charset="-122"/>
                <a:cs typeface="Malgun Gothic" pitchFamily="34" charset="-120"/>
              </a:rPr>
              <a:t>18~19시 퇴근길 하차 인원 TOP 5</a:t>
            </a:r>
            <a:endParaRPr lang="en-US" sz="2400" dirty="0"/>
          </a:p>
        </p:txBody>
      </p:sp>
      <p:sp>
        <p:nvSpPr>
          <p:cNvPr id="5" name="Text 3"/>
          <p:cNvSpPr txBox="1"/>
          <p:nvPr/>
        </p:nvSpPr>
        <p:spPr>
          <a:xfrm>
            <a:off x="502920" y="4800600"/>
            <a:ext cx="4572000" cy="201168"/>
          </a:xfrm>
          <a:prstGeom prst="rect">
            <a:avLst/>
          </a:prstGeom>
          <a:noFill/>
          <a:ln/>
        </p:spPr>
        <p:txBody>
          <a:bodyPr wrap="square" lIns="0" tIns="0" rIns="0" bIns="0" rtlCol="0" anchor="ctr"/>
          <a:lstStyle/>
          <a:p>
            <a:pPr indent="0" marL="0">
              <a:buNone/>
            </a:pPr>
            <a:r>
              <a:rPr lang="en-US" sz="900" dirty="0">
                <a:solidFill>
                  <a:srgbClr val="5E6B63"/>
                </a:solidFill>
                <a:latin typeface="Malgun Gothic" pitchFamily="34" charset="0"/>
                <a:ea typeface="Malgun Gothic" pitchFamily="34" charset="-122"/>
                <a:cs typeface="Malgun Gothic" pitchFamily="34" charset="-120"/>
              </a:rPr>
              <a:t>데이터로 알아보는 서울 지하철  |  윤희경</a:t>
            </a:r>
            <a:endParaRPr lang="en-US" sz="900" dirty="0"/>
          </a:p>
        </p:txBody>
      </p:sp>
      <p:sp>
        <p:nvSpPr>
          <p:cNvPr id="6" name="Text 4"/>
          <p:cNvSpPr txBox="1"/>
          <p:nvPr/>
        </p:nvSpPr>
        <p:spPr>
          <a:xfrm>
            <a:off x="7726680" y="4800600"/>
            <a:ext cx="914400" cy="201168"/>
          </a:xfrm>
          <a:prstGeom prst="rect">
            <a:avLst/>
          </a:prstGeom>
          <a:noFill/>
          <a:ln/>
        </p:spPr>
        <p:txBody>
          <a:bodyPr wrap="square" lIns="0" tIns="0" rIns="0" bIns="0" rtlCol="0" anchor="ctr"/>
          <a:lstStyle/>
          <a:p>
            <a:pPr algn="r" indent="0" marL="0">
              <a:buNone/>
            </a:pPr>
            <a:r>
              <a:rPr lang="en-US" sz="900" dirty="0">
                <a:solidFill>
                  <a:srgbClr val="5E6B63"/>
                </a:solidFill>
                <a:latin typeface="Malgun Gothic" pitchFamily="34" charset="0"/>
                <a:ea typeface="Malgun Gothic" pitchFamily="34" charset="-122"/>
                <a:cs typeface="Malgun Gothic" pitchFamily="34" charset="-120"/>
              </a:rPr>
              <a:t>12 / 13</a:t>
            </a:r>
            <a:endParaRPr lang="en-US" sz="900" dirty="0"/>
          </a:p>
        </p:txBody>
      </p:sp>
      <p:sp>
        <p:nvSpPr>
          <p:cNvPr id="7" name="Shape 5"/>
          <p:cNvSpPr/>
          <p:nvPr/>
        </p:nvSpPr>
        <p:spPr>
          <a:xfrm>
            <a:off x="777240" y="1600200"/>
            <a:ext cx="0" cy="2743200"/>
          </a:xfrm>
          <a:prstGeom prst="line">
            <a:avLst/>
          </a:prstGeom>
          <a:noFill/>
          <a:ln w="76200">
            <a:solidFill>
              <a:srgbClr val="00A84D"/>
            </a:solidFill>
            <a:prstDash val="solid"/>
          </a:ln>
        </p:spPr>
      </p:sp>
      <p:sp>
        <p:nvSpPr>
          <p:cNvPr id="8" name="Shape 6"/>
          <p:cNvSpPr/>
          <p:nvPr/>
        </p:nvSpPr>
        <p:spPr>
          <a:xfrm>
            <a:off x="594360" y="1417320"/>
            <a:ext cx="365760" cy="365760"/>
          </a:xfrm>
          <a:prstGeom prst="ellipse">
            <a:avLst/>
          </a:prstGeom>
          <a:solidFill>
            <a:srgbClr val="00A84D"/>
          </a:solidFill>
          <a:ln w="50800">
            <a:solidFill>
              <a:srgbClr val="00A84D"/>
            </a:solidFill>
            <a:prstDash val="solid"/>
          </a:ln>
        </p:spPr>
      </p:sp>
      <p:sp>
        <p:nvSpPr>
          <p:cNvPr id="9" name="Text 7"/>
          <p:cNvSpPr txBox="1"/>
          <p:nvPr/>
        </p:nvSpPr>
        <p:spPr>
          <a:xfrm>
            <a:off x="594360" y="1417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10" name="Text 8"/>
          <p:cNvSpPr txBox="1"/>
          <p:nvPr/>
        </p:nvSpPr>
        <p:spPr>
          <a:xfrm>
            <a:off x="1143000" y="1417320"/>
            <a:ext cx="2286000" cy="365760"/>
          </a:xfrm>
          <a:prstGeom prst="rect">
            <a:avLst/>
          </a:prstGeom>
          <a:noFill/>
          <a:ln/>
        </p:spPr>
        <p:txBody>
          <a:bodyPr wrap="square" lIns="0" tIns="0" rIns="0" bIns="0" rtlCol="0" anchor="ctr"/>
          <a:lstStyle/>
          <a:p>
            <a:pPr indent="0" marL="0">
              <a:buNone/>
            </a:pPr>
            <a:r>
              <a:rPr lang="en-US" sz="1600" b="1" dirty="0">
                <a:solidFill>
                  <a:srgbClr val="1E2B23"/>
                </a:solidFill>
                <a:latin typeface="Malgun Gothic" pitchFamily="34" charset="0"/>
                <a:ea typeface="Malgun Gothic" pitchFamily="34" charset="-122"/>
                <a:cs typeface="Malgun Gothic" pitchFamily="34" charset="-120"/>
              </a:rPr>
              <a:t>강남역</a:t>
            </a:r>
            <a:endParaRPr lang="en-US" sz="1600" dirty="0"/>
          </a:p>
        </p:txBody>
      </p:sp>
      <p:sp>
        <p:nvSpPr>
          <p:cNvPr id="11" name="Shape 9"/>
          <p:cNvSpPr/>
          <p:nvPr/>
        </p:nvSpPr>
        <p:spPr>
          <a:xfrm>
            <a:off x="594360" y="2039112"/>
            <a:ext cx="365760" cy="365760"/>
          </a:xfrm>
          <a:prstGeom prst="ellipse">
            <a:avLst/>
          </a:prstGeom>
          <a:solidFill>
            <a:srgbClr val="FFFFFF"/>
          </a:solidFill>
          <a:ln w="50800">
            <a:solidFill>
              <a:srgbClr val="00A84D"/>
            </a:solidFill>
            <a:prstDash val="solid"/>
          </a:ln>
        </p:spPr>
      </p:sp>
      <p:sp>
        <p:nvSpPr>
          <p:cNvPr id="12" name="Text 10"/>
          <p:cNvSpPr txBox="1"/>
          <p:nvPr/>
        </p:nvSpPr>
        <p:spPr>
          <a:xfrm>
            <a:off x="594360" y="2039112"/>
            <a:ext cx="365760" cy="365760"/>
          </a:xfrm>
          <a:prstGeom prst="rect">
            <a:avLst/>
          </a:prstGeom>
          <a:noFill/>
          <a:ln/>
        </p:spPr>
        <p:txBody>
          <a:bodyPr wrap="square" lIns="0" tIns="0" rIns="0" bIns="0" rtlCol="0" anchor="ctr"/>
          <a:lstStyle/>
          <a:p>
            <a:pPr algn="ctr" indent="0" marL="0">
              <a:buNone/>
            </a:pPr>
            <a:r>
              <a:rPr lang="en-US" sz="1100" b="1" dirty="0">
                <a:solidFill>
                  <a:srgbClr val="00A84D"/>
                </a:solidFill>
                <a:latin typeface="Malgun Gothic" pitchFamily="34" charset="0"/>
                <a:ea typeface="Malgun Gothic" pitchFamily="34" charset="-122"/>
                <a:cs typeface="Malgun Gothic" pitchFamily="34" charset="-120"/>
              </a:rPr>
              <a:t>2</a:t>
            </a:r>
            <a:endParaRPr lang="en-US" sz="1100" dirty="0"/>
          </a:p>
        </p:txBody>
      </p:sp>
      <p:sp>
        <p:nvSpPr>
          <p:cNvPr id="13" name="Text 11"/>
          <p:cNvSpPr txBox="1"/>
          <p:nvPr/>
        </p:nvSpPr>
        <p:spPr>
          <a:xfrm>
            <a:off x="1143000" y="2039112"/>
            <a:ext cx="2286000" cy="365760"/>
          </a:xfrm>
          <a:prstGeom prst="rect">
            <a:avLst/>
          </a:prstGeom>
          <a:noFill/>
          <a:ln/>
        </p:spPr>
        <p:txBody>
          <a:bodyPr wrap="square" lIns="0" tIns="0" rIns="0" bIns="0" rtlCol="0" anchor="ctr"/>
          <a:lstStyle/>
          <a:p>
            <a:pPr indent="0" marL="0">
              <a:buNone/>
            </a:pPr>
            <a:r>
              <a:rPr lang="en-US" sz="1600" b="1" dirty="0">
                <a:solidFill>
                  <a:srgbClr val="1E2B23"/>
                </a:solidFill>
                <a:latin typeface="Malgun Gothic" pitchFamily="34" charset="0"/>
                <a:ea typeface="Malgun Gothic" pitchFamily="34" charset="-122"/>
                <a:cs typeface="Malgun Gothic" pitchFamily="34" charset="-120"/>
              </a:rPr>
              <a:t>잠실역</a:t>
            </a:r>
            <a:endParaRPr lang="en-US" sz="1600" dirty="0"/>
          </a:p>
        </p:txBody>
      </p:sp>
      <p:sp>
        <p:nvSpPr>
          <p:cNvPr id="14" name="Shape 12"/>
          <p:cNvSpPr/>
          <p:nvPr/>
        </p:nvSpPr>
        <p:spPr>
          <a:xfrm>
            <a:off x="594360" y="2660904"/>
            <a:ext cx="365760" cy="365760"/>
          </a:xfrm>
          <a:prstGeom prst="ellipse">
            <a:avLst/>
          </a:prstGeom>
          <a:solidFill>
            <a:srgbClr val="FFFFFF"/>
          </a:solidFill>
          <a:ln w="50800">
            <a:solidFill>
              <a:srgbClr val="00A84D"/>
            </a:solidFill>
            <a:prstDash val="solid"/>
          </a:ln>
        </p:spPr>
      </p:sp>
      <p:sp>
        <p:nvSpPr>
          <p:cNvPr id="15" name="Text 13"/>
          <p:cNvSpPr txBox="1"/>
          <p:nvPr/>
        </p:nvSpPr>
        <p:spPr>
          <a:xfrm>
            <a:off x="594360" y="2660904"/>
            <a:ext cx="365760" cy="365760"/>
          </a:xfrm>
          <a:prstGeom prst="rect">
            <a:avLst/>
          </a:prstGeom>
          <a:noFill/>
          <a:ln/>
        </p:spPr>
        <p:txBody>
          <a:bodyPr wrap="square" lIns="0" tIns="0" rIns="0" bIns="0" rtlCol="0" anchor="ctr"/>
          <a:lstStyle/>
          <a:p>
            <a:pPr algn="ctr" indent="0" marL="0">
              <a:buNone/>
            </a:pPr>
            <a:r>
              <a:rPr lang="en-US" sz="1100" b="1" dirty="0">
                <a:solidFill>
                  <a:srgbClr val="00A84D"/>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1143000" y="2660904"/>
            <a:ext cx="2286000" cy="365760"/>
          </a:xfrm>
          <a:prstGeom prst="rect">
            <a:avLst/>
          </a:prstGeom>
          <a:noFill/>
          <a:ln/>
        </p:spPr>
        <p:txBody>
          <a:bodyPr wrap="square" lIns="0" tIns="0" rIns="0" bIns="0" rtlCol="0" anchor="ctr"/>
          <a:lstStyle/>
          <a:p>
            <a:pPr indent="0" marL="0">
              <a:buNone/>
            </a:pPr>
            <a:r>
              <a:rPr lang="en-US" sz="1600" b="1" dirty="0">
                <a:solidFill>
                  <a:srgbClr val="1E2B23"/>
                </a:solidFill>
                <a:latin typeface="Malgun Gothic" pitchFamily="34" charset="0"/>
                <a:ea typeface="Malgun Gothic" pitchFamily="34" charset="-122"/>
                <a:cs typeface="Malgun Gothic" pitchFamily="34" charset="-120"/>
              </a:rPr>
              <a:t>고속터미널역</a:t>
            </a:r>
            <a:endParaRPr lang="en-US" sz="1600" dirty="0"/>
          </a:p>
        </p:txBody>
      </p:sp>
      <p:sp>
        <p:nvSpPr>
          <p:cNvPr id="17" name="Shape 15"/>
          <p:cNvSpPr/>
          <p:nvPr/>
        </p:nvSpPr>
        <p:spPr>
          <a:xfrm>
            <a:off x="594360" y="3282696"/>
            <a:ext cx="365760" cy="365760"/>
          </a:xfrm>
          <a:prstGeom prst="ellipse">
            <a:avLst/>
          </a:prstGeom>
          <a:solidFill>
            <a:srgbClr val="FFFFFF"/>
          </a:solidFill>
          <a:ln w="50800">
            <a:solidFill>
              <a:srgbClr val="00A84D"/>
            </a:solidFill>
            <a:prstDash val="solid"/>
          </a:ln>
        </p:spPr>
      </p:sp>
      <p:sp>
        <p:nvSpPr>
          <p:cNvPr id="18" name="Text 16"/>
          <p:cNvSpPr txBox="1"/>
          <p:nvPr/>
        </p:nvSpPr>
        <p:spPr>
          <a:xfrm>
            <a:off x="594360" y="3282696"/>
            <a:ext cx="365760" cy="365760"/>
          </a:xfrm>
          <a:prstGeom prst="rect">
            <a:avLst/>
          </a:prstGeom>
          <a:noFill/>
          <a:ln/>
        </p:spPr>
        <p:txBody>
          <a:bodyPr wrap="square" lIns="0" tIns="0" rIns="0" bIns="0" rtlCol="0" anchor="ctr"/>
          <a:lstStyle/>
          <a:p>
            <a:pPr algn="ctr" indent="0" marL="0">
              <a:buNone/>
            </a:pPr>
            <a:r>
              <a:rPr lang="en-US" sz="1100" b="1" dirty="0">
                <a:solidFill>
                  <a:srgbClr val="00A84D"/>
                </a:solidFill>
                <a:latin typeface="Malgun Gothic" pitchFamily="34" charset="0"/>
                <a:ea typeface="Malgun Gothic" pitchFamily="34" charset="-122"/>
                <a:cs typeface="Malgun Gothic" pitchFamily="34" charset="-120"/>
              </a:rPr>
              <a:t>4</a:t>
            </a:r>
            <a:endParaRPr lang="en-US" sz="1100" dirty="0"/>
          </a:p>
        </p:txBody>
      </p:sp>
      <p:sp>
        <p:nvSpPr>
          <p:cNvPr id="19" name="Text 17"/>
          <p:cNvSpPr txBox="1"/>
          <p:nvPr/>
        </p:nvSpPr>
        <p:spPr>
          <a:xfrm>
            <a:off x="1143000" y="3282696"/>
            <a:ext cx="2286000" cy="365760"/>
          </a:xfrm>
          <a:prstGeom prst="rect">
            <a:avLst/>
          </a:prstGeom>
          <a:noFill/>
          <a:ln/>
        </p:spPr>
        <p:txBody>
          <a:bodyPr wrap="square" lIns="0" tIns="0" rIns="0" bIns="0" rtlCol="0" anchor="ctr"/>
          <a:lstStyle/>
          <a:p>
            <a:pPr indent="0" marL="0">
              <a:buNone/>
            </a:pPr>
            <a:r>
              <a:rPr lang="en-US" sz="1600" b="1" dirty="0">
                <a:solidFill>
                  <a:srgbClr val="1E2B23"/>
                </a:solidFill>
                <a:latin typeface="Malgun Gothic" pitchFamily="34" charset="0"/>
                <a:ea typeface="Malgun Gothic" pitchFamily="34" charset="-122"/>
                <a:cs typeface="Malgun Gothic" pitchFamily="34" charset="-120"/>
              </a:rPr>
              <a:t>서울역</a:t>
            </a:r>
            <a:endParaRPr lang="en-US" sz="1600" dirty="0"/>
          </a:p>
        </p:txBody>
      </p:sp>
      <p:sp>
        <p:nvSpPr>
          <p:cNvPr id="20" name="Shape 18"/>
          <p:cNvSpPr/>
          <p:nvPr/>
        </p:nvSpPr>
        <p:spPr>
          <a:xfrm>
            <a:off x="594360" y="3904488"/>
            <a:ext cx="365760" cy="365760"/>
          </a:xfrm>
          <a:prstGeom prst="ellipse">
            <a:avLst/>
          </a:prstGeom>
          <a:solidFill>
            <a:srgbClr val="FFFFFF"/>
          </a:solidFill>
          <a:ln w="50800">
            <a:solidFill>
              <a:srgbClr val="00A84D"/>
            </a:solidFill>
            <a:prstDash val="solid"/>
          </a:ln>
        </p:spPr>
      </p:sp>
      <p:sp>
        <p:nvSpPr>
          <p:cNvPr id="21" name="Text 19"/>
          <p:cNvSpPr txBox="1"/>
          <p:nvPr/>
        </p:nvSpPr>
        <p:spPr>
          <a:xfrm>
            <a:off x="594360" y="3904488"/>
            <a:ext cx="365760" cy="365760"/>
          </a:xfrm>
          <a:prstGeom prst="rect">
            <a:avLst/>
          </a:prstGeom>
          <a:noFill/>
          <a:ln/>
        </p:spPr>
        <p:txBody>
          <a:bodyPr wrap="square" lIns="0" tIns="0" rIns="0" bIns="0" rtlCol="0" anchor="ctr"/>
          <a:lstStyle/>
          <a:p>
            <a:pPr algn="ctr" indent="0" marL="0">
              <a:buNone/>
            </a:pPr>
            <a:r>
              <a:rPr lang="en-US" sz="1100" b="1" dirty="0">
                <a:solidFill>
                  <a:srgbClr val="00A84D"/>
                </a:solidFill>
                <a:latin typeface="Malgun Gothic" pitchFamily="34" charset="0"/>
                <a:ea typeface="Malgun Gothic" pitchFamily="34" charset="-122"/>
                <a:cs typeface="Malgun Gothic" pitchFamily="34" charset="-120"/>
              </a:rPr>
              <a:t>5</a:t>
            </a:r>
            <a:endParaRPr lang="en-US" sz="1100" dirty="0"/>
          </a:p>
        </p:txBody>
      </p:sp>
      <p:sp>
        <p:nvSpPr>
          <p:cNvPr id="22" name="Text 20"/>
          <p:cNvSpPr txBox="1"/>
          <p:nvPr/>
        </p:nvSpPr>
        <p:spPr>
          <a:xfrm>
            <a:off x="1143000" y="3904488"/>
            <a:ext cx="2286000" cy="365760"/>
          </a:xfrm>
          <a:prstGeom prst="rect">
            <a:avLst/>
          </a:prstGeom>
          <a:noFill/>
          <a:ln/>
        </p:spPr>
        <p:txBody>
          <a:bodyPr wrap="square" lIns="0" tIns="0" rIns="0" bIns="0" rtlCol="0" anchor="ctr"/>
          <a:lstStyle/>
          <a:p>
            <a:pPr indent="0" marL="0">
              <a:buNone/>
            </a:pPr>
            <a:r>
              <a:rPr lang="en-US" sz="1600" b="1" dirty="0">
                <a:solidFill>
                  <a:srgbClr val="1E2B23"/>
                </a:solidFill>
                <a:latin typeface="Malgun Gothic" pitchFamily="34" charset="0"/>
                <a:ea typeface="Malgun Gothic" pitchFamily="34" charset="-122"/>
                <a:cs typeface="Malgun Gothic" pitchFamily="34" charset="-120"/>
              </a:rPr>
              <a:t>홍대입구역</a:t>
            </a:r>
            <a:endParaRPr lang="en-US" sz="1600" dirty="0"/>
          </a:p>
        </p:txBody>
      </p:sp>
      <p:sp>
        <p:nvSpPr>
          <p:cNvPr id="23" name="Shape 21"/>
          <p:cNvSpPr/>
          <p:nvPr/>
        </p:nvSpPr>
        <p:spPr>
          <a:xfrm>
            <a:off x="3758184" y="1426464"/>
            <a:ext cx="4919472" cy="2570053"/>
          </a:xfrm>
          <a:prstGeom prst="rect">
            <a:avLst/>
          </a:prstGeom>
          <a:solidFill>
            <a:srgbClr val="FFFFFF"/>
          </a:solidFill>
          <a:ln w="12700">
            <a:solidFill>
              <a:srgbClr val="D5E3DA"/>
            </a:solidFill>
            <a:prstDash val="solid"/>
          </a:ln>
        </p:spPr>
      </p:sp>
      <p:pic>
        <p:nvPicPr>
          <p:cNvPr id="24" name="Image 0" descr="/home/claude/w/img/hongdae.png">    </p:cNvPr>
          <p:cNvPicPr>
            <a:picLocks noChangeAspect="1"/>
          </p:cNvPicPr>
          <p:nvPr/>
        </p:nvPicPr>
        <p:blipFill>
          <a:blip r:embed="rId1"/>
          <a:stretch>
            <a:fillRect/>
          </a:stretch>
        </p:blipFill>
        <p:spPr>
          <a:xfrm>
            <a:off x="3794760" y="1463040"/>
            <a:ext cx="4846320" cy="2496901"/>
          </a:xfrm>
          <a:prstGeom prst="rect">
            <a:avLst/>
          </a:prstGeom>
        </p:spPr>
      </p:pic>
      <p:sp>
        <p:nvSpPr>
          <p:cNvPr id="25" name="Text 22"/>
          <p:cNvSpPr txBox="1"/>
          <p:nvPr/>
        </p:nvSpPr>
        <p:spPr>
          <a:xfrm>
            <a:off x="3794760" y="4051381"/>
            <a:ext cx="4846320" cy="274320"/>
          </a:xfrm>
          <a:prstGeom prst="rect">
            <a:avLst/>
          </a:prstGeom>
          <a:noFill/>
          <a:ln/>
        </p:spPr>
        <p:txBody>
          <a:bodyPr wrap="square" lIns="0" tIns="0" rIns="0" bIns="0" rtlCol="0" anchor="ctr"/>
          <a:lstStyle/>
          <a:p>
            <a:pPr indent="0" marL="0">
              <a:buNone/>
            </a:pPr>
            <a:r>
              <a:rPr lang="en-US" sz="1000" dirty="0">
                <a:solidFill>
                  <a:srgbClr val="5E6B63"/>
                </a:solidFill>
                <a:latin typeface="Malgun Gothic" pitchFamily="34" charset="0"/>
                <a:ea typeface="Malgun Gothic" pitchFamily="34" charset="-122"/>
                <a:cs typeface="Malgun Gothic" pitchFamily="34" charset="-120"/>
              </a:rPr>
              <a:t>홍대입구역 주변 확대 히트맵</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703A"/>
        </a:solidFill>
      </p:bgPr>
    </p:bg>
    <p:spTree>
      <p:nvGrpSpPr>
        <p:cNvPr id="1" name=""/>
        <p:cNvGrpSpPr/>
        <p:nvPr/>
      </p:nvGrpSpPr>
      <p:grpSpPr>
        <a:xfrm>
          <a:off x="0" y="0"/>
          <a:ext cx="0" cy="0"/>
          <a:chOff x="0" y="0"/>
          <a:chExt cx="0" cy="0"/>
        </a:xfrm>
      </p:grpSpPr>
      <p:sp>
        <p:nvSpPr>
          <p:cNvPr id="2" name="Text 0"/>
          <p:cNvSpPr txBox="1"/>
          <p:nvPr/>
        </p:nvSpPr>
        <p:spPr>
          <a:xfrm>
            <a:off x="640080" y="173736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감사합니다</a:t>
            </a:r>
            <a:endParaRPr lang="en-US" sz="4000" dirty="0"/>
          </a:p>
        </p:txBody>
      </p:sp>
      <p:sp>
        <p:nvSpPr>
          <p:cNvPr id="3" name="Text 1"/>
          <p:cNvSpPr txBox="1"/>
          <p:nvPr/>
        </p:nvSpPr>
        <p:spPr>
          <a:xfrm>
            <a:off x="640080" y="2606040"/>
            <a:ext cx="7863840" cy="365760"/>
          </a:xfrm>
          <a:prstGeom prst="rect">
            <a:avLst/>
          </a:prstGeom>
          <a:noFill/>
          <a:ln/>
        </p:spPr>
        <p:txBody>
          <a:bodyPr wrap="square" lIns="0" tIns="0" rIns="0" bIns="0" rtlCol="0" anchor="ctr"/>
          <a:lstStyle/>
          <a:p>
            <a:pPr indent="0" marL="0">
              <a:buNone/>
            </a:pPr>
            <a:r>
              <a:rPr lang="en-US" sz="1400" dirty="0">
                <a:solidFill>
                  <a:srgbClr val="CFEBDA"/>
                </a:solidFill>
                <a:latin typeface="Malgun Gothic" pitchFamily="34" charset="0"/>
                <a:ea typeface="Malgun Gothic" pitchFamily="34" charset="-122"/>
                <a:cs typeface="Malgun Gothic" pitchFamily="34" charset="-120"/>
              </a:rPr>
              <a:t>데이터로 알아보는 서울 지하철  |  윤희경</a:t>
            </a:r>
            <a:endParaRPr lang="en-US" sz="1400" dirty="0"/>
          </a:p>
        </p:txBody>
      </p:sp>
      <p:sp>
        <p:nvSpPr>
          <p:cNvPr id="4" name="Shape 2"/>
          <p:cNvSpPr/>
          <p:nvPr/>
        </p:nvSpPr>
        <p:spPr>
          <a:xfrm>
            <a:off x="640080" y="4160520"/>
            <a:ext cx="7863840" cy="0"/>
          </a:xfrm>
          <a:prstGeom prst="line">
            <a:avLst/>
          </a:prstGeom>
          <a:noFill/>
          <a:ln w="76200">
            <a:solidFill>
              <a:srgbClr val="33C172"/>
            </a:solidFill>
            <a:prstDash val="solid"/>
          </a:ln>
        </p:spPr>
      </p:sp>
      <p:sp>
        <p:nvSpPr>
          <p:cNvPr id="5" name="Shape 3"/>
          <p:cNvSpPr/>
          <p:nvPr/>
        </p:nvSpPr>
        <p:spPr>
          <a:xfrm>
            <a:off x="502920" y="4023360"/>
            <a:ext cx="274320" cy="274320"/>
          </a:xfrm>
          <a:prstGeom prst="ellipse">
            <a:avLst/>
          </a:prstGeom>
          <a:solidFill>
            <a:srgbClr val="FFFFFF"/>
          </a:solidFill>
          <a:ln w="50800">
            <a:solidFill>
              <a:srgbClr val="33C172"/>
            </a:solidFill>
            <a:prstDash val="solid"/>
          </a:ln>
        </p:spPr>
      </p:sp>
      <p:sp>
        <p:nvSpPr>
          <p:cNvPr id="6" name="Shape 4"/>
          <p:cNvSpPr/>
          <p:nvPr/>
        </p:nvSpPr>
        <p:spPr>
          <a:xfrm>
            <a:off x="2468880" y="4023360"/>
            <a:ext cx="274320" cy="274320"/>
          </a:xfrm>
          <a:prstGeom prst="ellipse">
            <a:avLst/>
          </a:prstGeom>
          <a:solidFill>
            <a:srgbClr val="FFFFFF"/>
          </a:solidFill>
          <a:ln w="50800">
            <a:solidFill>
              <a:srgbClr val="33C172"/>
            </a:solidFill>
            <a:prstDash val="solid"/>
          </a:ln>
        </p:spPr>
      </p:sp>
      <p:sp>
        <p:nvSpPr>
          <p:cNvPr id="7" name="Shape 5"/>
          <p:cNvSpPr/>
          <p:nvPr/>
        </p:nvSpPr>
        <p:spPr>
          <a:xfrm>
            <a:off x="4434840" y="4023360"/>
            <a:ext cx="274320" cy="274320"/>
          </a:xfrm>
          <a:prstGeom prst="ellipse">
            <a:avLst/>
          </a:prstGeom>
          <a:solidFill>
            <a:srgbClr val="FFFFFF"/>
          </a:solidFill>
          <a:ln w="50800">
            <a:solidFill>
              <a:srgbClr val="33C172"/>
            </a:solidFill>
            <a:prstDash val="solid"/>
          </a:ln>
        </p:spPr>
      </p:sp>
      <p:sp>
        <p:nvSpPr>
          <p:cNvPr id="8" name="Shape 6"/>
          <p:cNvSpPr/>
          <p:nvPr/>
        </p:nvSpPr>
        <p:spPr>
          <a:xfrm>
            <a:off x="6400800" y="4023360"/>
            <a:ext cx="274320" cy="274320"/>
          </a:xfrm>
          <a:prstGeom prst="ellipse">
            <a:avLst/>
          </a:prstGeom>
          <a:solidFill>
            <a:srgbClr val="FFFFFF"/>
          </a:solidFill>
          <a:ln w="50800">
            <a:solidFill>
              <a:srgbClr val="33C172"/>
            </a:solidFill>
            <a:prstDash val="solid"/>
          </a:ln>
        </p:spPr>
      </p:sp>
      <p:sp>
        <p:nvSpPr>
          <p:cNvPr id="9" name="Shape 7"/>
          <p:cNvSpPr/>
          <p:nvPr/>
        </p:nvSpPr>
        <p:spPr>
          <a:xfrm>
            <a:off x="8366760" y="4023360"/>
            <a:ext cx="274320" cy="274320"/>
          </a:xfrm>
          <a:prstGeom prst="ellipse">
            <a:avLst/>
          </a:prstGeom>
          <a:solidFill>
            <a:srgbClr val="33C172"/>
          </a:solidFill>
          <a:ln w="50800">
            <a:solidFill>
              <a:srgbClr val="33C172"/>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데이터로 알아보는 서울 지하철</dc:title>
  <dc:subject>PptxGenJS Presentation</dc:subject>
  <dc:creator>윤희경</dc:creator>
  <cp:lastModifiedBy>윤희경</cp:lastModifiedBy>
  <cp:revision>1</cp:revision>
  <dcterms:created xsi:type="dcterms:W3CDTF">2026-10-30T03:08:31Z</dcterms:created>
  <dcterms:modified xsi:type="dcterms:W3CDTF">2026-10-30T03:08:31Z</dcterms:modified>
</cp:coreProperties>
</file>